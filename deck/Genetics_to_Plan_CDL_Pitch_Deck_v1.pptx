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1" r:id="rId5"/>
    <p:sldId id="272" r:id="rId6"/>
    <p:sldId id="273" r:id="rId7"/>
    <p:sldId id="259" r:id="rId8"/>
    <p:sldId id="260" r:id="rId9"/>
    <p:sldId id="261" r:id="rId10"/>
    <p:sldId id="266" r:id="rId11"/>
    <p:sldId id="267" r:id="rId12"/>
    <p:sldId id="268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170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3B671E-D569-4090-A15C-A497ABBB441A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347E6AA-585A-4C62-B359-5D7C7BEFF504}">
      <dgm:prSet/>
      <dgm:spPr/>
      <dgm:t>
        <a:bodyPr/>
        <a:lstStyle/>
        <a:p>
          <a:r>
            <a:rPr lang="en-US" dirty="0"/>
            <a:t>Parents leave with a diagnosis—but no Tuesday plan.</a:t>
          </a:r>
        </a:p>
      </dgm:t>
    </dgm:pt>
    <dgm:pt modelId="{AFC236BA-2739-4462-AAC6-67B21336F917}" type="parTrans" cxnId="{00ADFF41-E471-4E0F-921F-ABF6AFEDCA62}">
      <dgm:prSet/>
      <dgm:spPr/>
      <dgm:t>
        <a:bodyPr/>
        <a:lstStyle/>
        <a:p>
          <a:endParaRPr lang="en-US"/>
        </a:p>
      </dgm:t>
    </dgm:pt>
    <dgm:pt modelId="{B80FEAC6-3420-40EF-A300-ACC762251117}" type="sibTrans" cxnId="{00ADFF41-E471-4E0F-921F-ABF6AFEDCA62}">
      <dgm:prSet/>
      <dgm:spPr/>
      <dgm:t>
        <a:bodyPr/>
        <a:lstStyle/>
        <a:p>
          <a:endParaRPr lang="en-US"/>
        </a:p>
      </dgm:t>
    </dgm:pt>
    <dgm:pt modelId="{54BFE5F3-30FA-4DDC-8978-35B0386ACF9D}">
      <dgm:prSet/>
      <dgm:spPr/>
      <dgm:t>
        <a:bodyPr/>
        <a:lstStyle/>
        <a:p>
          <a:r>
            <a:rPr lang="en-US" dirty="0"/>
            <a:t>Paper handouts don’t translate into daily routines at home or school.</a:t>
          </a:r>
        </a:p>
      </dgm:t>
    </dgm:pt>
    <dgm:pt modelId="{B55116F9-9920-49D7-9AB3-D3A60EC6FA18}" type="parTrans" cxnId="{BCFD867D-6015-4FAD-8967-69A46DCCCA61}">
      <dgm:prSet/>
      <dgm:spPr/>
      <dgm:t>
        <a:bodyPr/>
        <a:lstStyle/>
        <a:p>
          <a:endParaRPr lang="en-US"/>
        </a:p>
      </dgm:t>
    </dgm:pt>
    <dgm:pt modelId="{CC752908-9D75-4579-8C62-5058FB7E2889}" type="sibTrans" cxnId="{BCFD867D-6015-4FAD-8967-69A46DCCCA61}">
      <dgm:prSet/>
      <dgm:spPr/>
      <dgm:t>
        <a:bodyPr/>
        <a:lstStyle/>
        <a:p>
          <a:endParaRPr lang="en-US"/>
        </a:p>
      </dgm:t>
    </dgm:pt>
    <dgm:pt modelId="{19D91740-DA6F-40D0-9389-4685A3333297}">
      <dgm:prSet/>
      <dgm:spPr/>
      <dgm:t>
        <a:bodyPr/>
        <a:lstStyle/>
        <a:p>
          <a:r>
            <a:rPr lang="en-US" dirty="0"/>
            <a:t>Time-poor caregivers need 5–10 minutes, step-by-step guidance.</a:t>
          </a:r>
        </a:p>
      </dgm:t>
    </dgm:pt>
    <dgm:pt modelId="{5BC25906-5296-4944-8689-3DC424DBF980}" type="parTrans" cxnId="{1EC693C1-7AAB-4894-B6FA-0BA1DB6E5459}">
      <dgm:prSet/>
      <dgm:spPr/>
      <dgm:t>
        <a:bodyPr/>
        <a:lstStyle/>
        <a:p>
          <a:endParaRPr lang="en-US"/>
        </a:p>
      </dgm:t>
    </dgm:pt>
    <dgm:pt modelId="{33391217-FECE-412A-9037-3CAD2AFBDAEB}" type="sibTrans" cxnId="{1EC693C1-7AAB-4894-B6FA-0BA1DB6E5459}">
      <dgm:prSet/>
      <dgm:spPr/>
      <dgm:t>
        <a:bodyPr/>
        <a:lstStyle/>
        <a:p>
          <a:endParaRPr lang="en-US"/>
        </a:p>
      </dgm:t>
    </dgm:pt>
    <dgm:pt modelId="{7A28BF6F-041C-4416-BF16-7846221BA865}">
      <dgm:prSet/>
      <dgm:spPr/>
      <dgm:t>
        <a:bodyPr/>
        <a:lstStyle/>
        <a:p>
          <a:r>
            <a:rPr lang="en-US" dirty="0"/>
            <a:t>Inconsistent IEP/home‑program alignment; language &amp; literacy barriers.</a:t>
          </a:r>
        </a:p>
      </dgm:t>
    </dgm:pt>
    <dgm:pt modelId="{0324FA55-4CCC-4F9C-9B79-FD167D25A53C}" type="parTrans" cxnId="{54AA2A2D-28EA-4AAD-B96F-238D938B33E9}">
      <dgm:prSet/>
      <dgm:spPr/>
      <dgm:t>
        <a:bodyPr/>
        <a:lstStyle/>
        <a:p>
          <a:endParaRPr lang="en-US"/>
        </a:p>
      </dgm:t>
    </dgm:pt>
    <dgm:pt modelId="{A15E0BC0-3113-4210-BA0D-F14969BA8638}" type="sibTrans" cxnId="{54AA2A2D-28EA-4AAD-B96F-238D938B33E9}">
      <dgm:prSet/>
      <dgm:spPr/>
      <dgm:t>
        <a:bodyPr/>
        <a:lstStyle/>
        <a:p>
          <a:endParaRPr lang="en-US"/>
        </a:p>
      </dgm:t>
    </dgm:pt>
    <dgm:pt modelId="{DB5C4241-A177-4028-A77A-FA53BC740CB6}">
      <dgm:prSet/>
      <dgm:spPr/>
      <dgm:t>
        <a:bodyPr/>
        <a:lstStyle/>
        <a:p>
          <a:r>
            <a:rPr lang="en-US"/>
            <a:t>Clinics lack visibility into home adherence and outcomes.</a:t>
          </a:r>
        </a:p>
      </dgm:t>
    </dgm:pt>
    <dgm:pt modelId="{A91F6B28-1970-4DBF-B78C-62B9B5938625}" type="parTrans" cxnId="{10CC9539-372F-4C85-BBD8-95B019EFC648}">
      <dgm:prSet/>
      <dgm:spPr/>
      <dgm:t>
        <a:bodyPr/>
        <a:lstStyle/>
        <a:p>
          <a:endParaRPr lang="en-US"/>
        </a:p>
      </dgm:t>
    </dgm:pt>
    <dgm:pt modelId="{6CA314D2-41C5-4D94-935F-40314B256B5A}" type="sibTrans" cxnId="{10CC9539-372F-4C85-BBD8-95B019EFC648}">
      <dgm:prSet/>
      <dgm:spPr/>
      <dgm:t>
        <a:bodyPr/>
        <a:lstStyle/>
        <a:p>
          <a:endParaRPr lang="en-US"/>
        </a:p>
      </dgm:t>
    </dgm:pt>
    <dgm:pt modelId="{A8A7DBAC-7091-4B6D-9368-49DDE704B3DF}" type="pres">
      <dgm:prSet presAssocID="{943B671E-D569-4090-A15C-A497ABBB441A}" presName="Name0" presStyleCnt="0">
        <dgm:presLayoutVars>
          <dgm:dir/>
          <dgm:animLvl val="lvl"/>
          <dgm:resizeHandles val="exact"/>
        </dgm:presLayoutVars>
      </dgm:prSet>
      <dgm:spPr/>
    </dgm:pt>
    <dgm:pt modelId="{076EB248-6C0A-443C-A158-C2CA478145D3}" type="pres">
      <dgm:prSet presAssocID="{D347E6AA-585A-4C62-B359-5D7C7BEFF504}" presName="linNode" presStyleCnt="0"/>
      <dgm:spPr/>
    </dgm:pt>
    <dgm:pt modelId="{0B2CEB7D-4745-4F57-A0B3-EE8ABFDD5FA3}" type="pres">
      <dgm:prSet presAssocID="{D347E6AA-585A-4C62-B359-5D7C7BEFF504}" presName="parentText" presStyleLbl="node1" presStyleIdx="0" presStyleCnt="5" custScaleX="168587">
        <dgm:presLayoutVars>
          <dgm:chMax val="1"/>
          <dgm:bulletEnabled val="1"/>
        </dgm:presLayoutVars>
      </dgm:prSet>
      <dgm:spPr/>
    </dgm:pt>
    <dgm:pt modelId="{F4D617D0-D64A-49F6-A190-8144C4986A18}" type="pres">
      <dgm:prSet presAssocID="{B80FEAC6-3420-40EF-A300-ACC762251117}" presName="sp" presStyleCnt="0"/>
      <dgm:spPr/>
    </dgm:pt>
    <dgm:pt modelId="{A88B3CF9-4ECA-42BA-AFA4-FEB0A999B5E6}" type="pres">
      <dgm:prSet presAssocID="{54BFE5F3-30FA-4DDC-8978-35B0386ACF9D}" presName="linNode" presStyleCnt="0"/>
      <dgm:spPr/>
    </dgm:pt>
    <dgm:pt modelId="{1107F899-045E-4BF7-8561-54331F045A6E}" type="pres">
      <dgm:prSet presAssocID="{54BFE5F3-30FA-4DDC-8978-35B0386ACF9D}" presName="parentText" presStyleLbl="node1" presStyleIdx="1" presStyleCnt="5" custScaleX="170070">
        <dgm:presLayoutVars>
          <dgm:chMax val="1"/>
          <dgm:bulletEnabled val="1"/>
        </dgm:presLayoutVars>
      </dgm:prSet>
      <dgm:spPr/>
    </dgm:pt>
    <dgm:pt modelId="{753CD499-EB04-4591-B92B-9C95AC3F066A}" type="pres">
      <dgm:prSet presAssocID="{CC752908-9D75-4579-8C62-5058FB7E2889}" presName="sp" presStyleCnt="0"/>
      <dgm:spPr/>
    </dgm:pt>
    <dgm:pt modelId="{3778BED7-7BB3-41EC-83C6-86E05CCF720F}" type="pres">
      <dgm:prSet presAssocID="{19D91740-DA6F-40D0-9389-4685A3333297}" presName="linNode" presStyleCnt="0"/>
      <dgm:spPr/>
    </dgm:pt>
    <dgm:pt modelId="{962F8EE4-41DD-4221-9258-0462DE53EBFF}" type="pres">
      <dgm:prSet presAssocID="{19D91740-DA6F-40D0-9389-4685A3333297}" presName="parentText" presStyleLbl="node1" presStyleIdx="2" presStyleCnt="5" custScaleX="169424">
        <dgm:presLayoutVars>
          <dgm:chMax val="1"/>
          <dgm:bulletEnabled val="1"/>
        </dgm:presLayoutVars>
      </dgm:prSet>
      <dgm:spPr/>
    </dgm:pt>
    <dgm:pt modelId="{C450C940-4803-4DCC-8BE0-E49E13E960BA}" type="pres">
      <dgm:prSet presAssocID="{33391217-FECE-412A-9037-3CAD2AFBDAEB}" presName="sp" presStyleCnt="0"/>
      <dgm:spPr/>
    </dgm:pt>
    <dgm:pt modelId="{20A577C0-1FC4-4C20-A9FC-A418F93E5AB8}" type="pres">
      <dgm:prSet presAssocID="{7A28BF6F-041C-4416-BF16-7846221BA865}" presName="linNode" presStyleCnt="0"/>
      <dgm:spPr/>
    </dgm:pt>
    <dgm:pt modelId="{A699E2CF-924D-4562-AF10-E548AA73CAD2}" type="pres">
      <dgm:prSet presAssocID="{7A28BF6F-041C-4416-BF16-7846221BA865}" presName="parentText" presStyleLbl="node1" presStyleIdx="3" presStyleCnt="5" custScaleX="168395">
        <dgm:presLayoutVars>
          <dgm:chMax val="1"/>
          <dgm:bulletEnabled val="1"/>
        </dgm:presLayoutVars>
      </dgm:prSet>
      <dgm:spPr/>
    </dgm:pt>
    <dgm:pt modelId="{A25456BD-E992-47CA-9BBA-7C5AC5F34F80}" type="pres">
      <dgm:prSet presAssocID="{A15E0BC0-3113-4210-BA0D-F14969BA8638}" presName="sp" presStyleCnt="0"/>
      <dgm:spPr/>
    </dgm:pt>
    <dgm:pt modelId="{13E5DDB3-F252-4F0B-B95A-76408ADDB76D}" type="pres">
      <dgm:prSet presAssocID="{DB5C4241-A177-4028-A77A-FA53BC740CB6}" presName="linNode" presStyleCnt="0"/>
      <dgm:spPr/>
    </dgm:pt>
    <dgm:pt modelId="{0930E21C-12E5-46EA-83E5-F974EA85A2F2}" type="pres">
      <dgm:prSet presAssocID="{DB5C4241-A177-4028-A77A-FA53BC740CB6}" presName="parentText" presStyleLbl="node1" presStyleIdx="4" presStyleCnt="5" custScaleX="170262">
        <dgm:presLayoutVars>
          <dgm:chMax val="1"/>
          <dgm:bulletEnabled val="1"/>
        </dgm:presLayoutVars>
      </dgm:prSet>
      <dgm:spPr/>
    </dgm:pt>
  </dgm:ptLst>
  <dgm:cxnLst>
    <dgm:cxn modelId="{54AA2A2D-28EA-4AAD-B96F-238D938B33E9}" srcId="{943B671E-D569-4090-A15C-A497ABBB441A}" destId="{7A28BF6F-041C-4416-BF16-7846221BA865}" srcOrd="3" destOrd="0" parTransId="{0324FA55-4CCC-4F9C-9B79-FD167D25A53C}" sibTransId="{A15E0BC0-3113-4210-BA0D-F14969BA8638}"/>
    <dgm:cxn modelId="{10CC9539-372F-4C85-BBD8-95B019EFC648}" srcId="{943B671E-D569-4090-A15C-A497ABBB441A}" destId="{DB5C4241-A177-4028-A77A-FA53BC740CB6}" srcOrd="4" destOrd="0" parTransId="{A91F6B28-1970-4DBF-B78C-62B9B5938625}" sibTransId="{6CA314D2-41C5-4D94-935F-40314B256B5A}"/>
    <dgm:cxn modelId="{D4BE465C-5F08-497B-9D09-E2CFFFD8F8B8}" type="presOf" srcId="{54BFE5F3-30FA-4DDC-8978-35B0386ACF9D}" destId="{1107F899-045E-4BF7-8561-54331F045A6E}" srcOrd="0" destOrd="0" presId="urn:microsoft.com/office/officeart/2005/8/layout/vList5"/>
    <dgm:cxn modelId="{00ADFF41-E471-4E0F-921F-ABF6AFEDCA62}" srcId="{943B671E-D569-4090-A15C-A497ABBB441A}" destId="{D347E6AA-585A-4C62-B359-5D7C7BEFF504}" srcOrd="0" destOrd="0" parTransId="{AFC236BA-2739-4462-AAC6-67B21336F917}" sibTransId="{B80FEAC6-3420-40EF-A300-ACC762251117}"/>
    <dgm:cxn modelId="{1D64744F-A92B-4C60-AD93-FF33F592ED84}" type="presOf" srcId="{943B671E-D569-4090-A15C-A497ABBB441A}" destId="{A8A7DBAC-7091-4B6D-9368-49DDE704B3DF}" srcOrd="0" destOrd="0" presId="urn:microsoft.com/office/officeart/2005/8/layout/vList5"/>
    <dgm:cxn modelId="{7EB9BA7B-6D8C-492E-AE67-93EB5338A65F}" type="presOf" srcId="{19D91740-DA6F-40D0-9389-4685A3333297}" destId="{962F8EE4-41DD-4221-9258-0462DE53EBFF}" srcOrd="0" destOrd="0" presId="urn:microsoft.com/office/officeart/2005/8/layout/vList5"/>
    <dgm:cxn modelId="{BCFD867D-6015-4FAD-8967-69A46DCCCA61}" srcId="{943B671E-D569-4090-A15C-A497ABBB441A}" destId="{54BFE5F3-30FA-4DDC-8978-35B0386ACF9D}" srcOrd="1" destOrd="0" parTransId="{B55116F9-9920-49D7-9AB3-D3A60EC6FA18}" sibTransId="{CC752908-9D75-4579-8C62-5058FB7E2889}"/>
    <dgm:cxn modelId="{FA2393A7-A8BC-4BFB-A431-4EC0DAACE7BA}" type="presOf" srcId="{DB5C4241-A177-4028-A77A-FA53BC740CB6}" destId="{0930E21C-12E5-46EA-83E5-F974EA85A2F2}" srcOrd="0" destOrd="0" presId="urn:microsoft.com/office/officeart/2005/8/layout/vList5"/>
    <dgm:cxn modelId="{1EC693C1-7AAB-4894-B6FA-0BA1DB6E5459}" srcId="{943B671E-D569-4090-A15C-A497ABBB441A}" destId="{19D91740-DA6F-40D0-9389-4685A3333297}" srcOrd="2" destOrd="0" parTransId="{5BC25906-5296-4944-8689-3DC424DBF980}" sibTransId="{33391217-FECE-412A-9037-3CAD2AFBDAEB}"/>
    <dgm:cxn modelId="{7F6721D2-C17F-4DCE-B3EE-4D38C34C9AF8}" type="presOf" srcId="{D347E6AA-585A-4C62-B359-5D7C7BEFF504}" destId="{0B2CEB7D-4745-4F57-A0B3-EE8ABFDD5FA3}" srcOrd="0" destOrd="0" presId="urn:microsoft.com/office/officeart/2005/8/layout/vList5"/>
    <dgm:cxn modelId="{7F3023F1-08D0-42C1-9891-749195E0B788}" type="presOf" srcId="{7A28BF6F-041C-4416-BF16-7846221BA865}" destId="{A699E2CF-924D-4562-AF10-E548AA73CAD2}" srcOrd="0" destOrd="0" presId="urn:microsoft.com/office/officeart/2005/8/layout/vList5"/>
    <dgm:cxn modelId="{63855308-5A5D-4D0C-8260-DEC12E3995C5}" type="presParOf" srcId="{A8A7DBAC-7091-4B6D-9368-49DDE704B3DF}" destId="{076EB248-6C0A-443C-A158-C2CA478145D3}" srcOrd="0" destOrd="0" presId="urn:microsoft.com/office/officeart/2005/8/layout/vList5"/>
    <dgm:cxn modelId="{B22A47D2-2767-4739-85D1-1A2235004245}" type="presParOf" srcId="{076EB248-6C0A-443C-A158-C2CA478145D3}" destId="{0B2CEB7D-4745-4F57-A0B3-EE8ABFDD5FA3}" srcOrd="0" destOrd="0" presId="urn:microsoft.com/office/officeart/2005/8/layout/vList5"/>
    <dgm:cxn modelId="{6BA85E0B-8A42-4E8F-95D9-4E32BF0CAE2D}" type="presParOf" srcId="{A8A7DBAC-7091-4B6D-9368-49DDE704B3DF}" destId="{F4D617D0-D64A-49F6-A190-8144C4986A18}" srcOrd="1" destOrd="0" presId="urn:microsoft.com/office/officeart/2005/8/layout/vList5"/>
    <dgm:cxn modelId="{084B1628-36E7-435F-AEBD-C043112A970C}" type="presParOf" srcId="{A8A7DBAC-7091-4B6D-9368-49DDE704B3DF}" destId="{A88B3CF9-4ECA-42BA-AFA4-FEB0A999B5E6}" srcOrd="2" destOrd="0" presId="urn:microsoft.com/office/officeart/2005/8/layout/vList5"/>
    <dgm:cxn modelId="{7AB840BF-A7AF-4833-BE6B-5CC51641E544}" type="presParOf" srcId="{A88B3CF9-4ECA-42BA-AFA4-FEB0A999B5E6}" destId="{1107F899-045E-4BF7-8561-54331F045A6E}" srcOrd="0" destOrd="0" presId="urn:microsoft.com/office/officeart/2005/8/layout/vList5"/>
    <dgm:cxn modelId="{B1BAFBA9-DD74-4D0D-ABA8-773FD7207FDE}" type="presParOf" srcId="{A8A7DBAC-7091-4B6D-9368-49DDE704B3DF}" destId="{753CD499-EB04-4591-B92B-9C95AC3F066A}" srcOrd="3" destOrd="0" presId="urn:microsoft.com/office/officeart/2005/8/layout/vList5"/>
    <dgm:cxn modelId="{222CB00C-A2A2-4965-85B9-60A94355520E}" type="presParOf" srcId="{A8A7DBAC-7091-4B6D-9368-49DDE704B3DF}" destId="{3778BED7-7BB3-41EC-83C6-86E05CCF720F}" srcOrd="4" destOrd="0" presId="urn:microsoft.com/office/officeart/2005/8/layout/vList5"/>
    <dgm:cxn modelId="{DDAB4685-9E2E-4EF2-ABC7-BB3660FB594F}" type="presParOf" srcId="{3778BED7-7BB3-41EC-83C6-86E05CCF720F}" destId="{962F8EE4-41DD-4221-9258-0462DE53EBFF}" srcOrd="0" destOrd="0" presId="urn:microsoft.com/office/officeart/2005/8/layout/vList5"/>
    <dgm:cxn modelId="{C9F7A8BF-B9A9-4F70-B64A-E67179F1FA6A}" type="presParOf" srcId="{A8A7DBAC-7091-4B6D-9368-49DDE704B3DF}" destId="{C450C940-4803-4DCC-8BE0-E49E13E960BA}" srcOrd="5" destOrd="0" presId="urn:microsoft.com/office/officeart/2005/8/layout/vList5"/>
    <dgm:cxn modelId="{36708F01-9795-4B43-B9B7-C7051253590A}" type="presParOf" srcId="{A8A7DBAC-7091-4B6D-9368-49DDE704B3DF}" destId="{20A577C0-1FC4-4C20-A9FC-A418F93E5AB8}" srcOrd="6" destOrd="0" presId="urn:microsoft.com/office/officeart/2005/8/layout/vList5"/>
    <dgm:cxn modelId="{D31FDCC1-1807-4833-91E7-7D366E085252}" type="presParOf" srcId="{20A577C0-1FC4-4C20-A9FC-A418F93E5AB8}" destId="{A699E2CF-924D-4562-AF10-E548AA73CAD2}" srcOrd="0" destOrd="0" presId="urn:microsoft.com/office/officeart/2005/8/layout/vList5"/>
    <dgm:cxn modelId="{D103CD0A-E51E-4A9C-8CD7-15FD67A716D2}" type="presParOf" srcId="{A8A7DBAC-7091-4B6D-9368-49DDE704B3DF}" destId="{A25456BD-E992-47CA-9BBA-7C5AC5F34F80}" srcOrd="7" destOrd="0" presId="urn:microsoft.com/office/officeart/2005/8/layout/vList5"/>
    <dgm:cxn modelId="{B7B3A35F-728E-4F3A-9D82-D2F115508B01}" type="presParOf" srcId="{A8A7DBAC-7091-4B6D-9368-49DDE704B3DF}" destId="{13E5DDB3-F252-4F0B-B95A-76408ADDB76D}" srcOrd="8" destOrd="0" presId="urn:microsoft.com/office/officeart/2005/8/layout/vList5"/>
    <dgm:cxn modelId="{E37431C9-92C6-44F0-8FA8-16F9B18CB2EF}" type="presParOf" srcId="{13E5DDB3-F252-4F0B-B95A-76408ADDB76D}" destId="{0930E21C-12E5-46EA-83E5-F974EA85A2F2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A0D159-0BDC-49F2-96ED-7A107050CE60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12476C6-E95D-47B2-818E-5BE5E68B2F04}">
      <dgm:prSet/>
      <dgm:spPr/>
      <dgm:t>
        <a:bodyPr/>
        <a:lstStyle/>
        <a:p>
          <a:r>
            <a:rPr lang="en-US" dirty="0"/>
            <a:t>Genex app builds daily 5–10‑minute routines aligned to goals and IEPs (Individual Education Plans by school districts).</a:t>
          </a:r>
        </a:p>
      </dgm:t>
    </dgm:pt>
    <dgm:pt modelId="{45CC4E78-9F0E-411E-99C3-A4702702945F}" type="parTrans" cxnId="{10F45DC0-30D1-423A-A335-60C4C361BD8A}">
      <dgm:prSet/>
      <dgm:spPr/>
      <dgm:t>
        <a:bodyPr/>
        <a:lstStyle/>
        <a:p>
          <a:endParaRPr lang="en-US"/>
        </a:p>
      </dgm:t>
    </dgm:pt>
    <dgm:pt modelId="{81D83615-ECD0-4A23-898C-1EB5C88653CF}" type="sibTrans" cxnId="{10F45DC0-30D1-423A-A335-60C4C361BD8A}">
      <dgm:prSet/>
      <dgm:spPr/>
      <dgm:t>
        <a:bodyPr/>
        <a:lstStyle/>
        <a:p>
          <a:endParaRPr lang="en-US"/>
        </a:p>
      </dgm:t>
    </dgm:pt>
    <dgm:pt modelId="{532ED16B-0A2F-4D7E-B91C-3BC791AC33FE}">
      <dgm:prSet/>
      <dgm:spPr/>
      <dgm:t>
        <a:bodyPr/>
        <a:lstStyle/>
        <a:p>
          <a:r>
            <a:rPr lang="en-US" dirty="0"/>
            <a:t>Transparent knowledge graph: suggestions include sources &amp; confidence level – color schemes.</a:t>
          </a:r>
        </a:p>
      </dgm:t>
    </dgm:pt>
    <dgm:pt modelId="{F50334C7-8971-431F-A0AB-9400E5EF770E}" type="parTrans" cxnId="{5133D5C4-E178-4BBC-8BAE-4087971B00DA}">
      <dgm:prSet/>
      <dgm:spPr/>
      <dgm:t>
        <a:bodyPr/>
        <a:lstStyle/>
        <a:p>
          <a:endParaRPr lang="en-US"/>
        </a:p>
      </dgm:t>
    </dgm:pt>
    <dgm:pt modelId="{6507EA14-1F41-4569-AD84-FE33F38F2A3E}" type="sibTrans" cxnId="{5133D5C4-E178-4BBC-8BAE-4087971B00DA}">
      <dgm:prSet/>
      <dgm:spPr/>
      <dgm:t>
        <a:bodyPr/>
        <a:lstStyle/>
        <a:p>
          <a:endParaRPr lang="en-US"/>
        </a:p>
      </dgm:t>
    </dgm:pt>
    <dgm:pt modelId="{BC597123-C83B-42EF-B328-9C30F2D7B71C}">
      <dgm:prSet/>
      <dgm:spPr/>
      <dgm:t>
        <a:bodyPr/>
        <a:lstStyle/>
        <a:p>
          <a:r>
            <a:rPr lang="en-US" dirty="0"/>
            <a:t>Reminders, progress loops, and printable EN/ES handouts.</a:t>
          </a:r>
        </a:p>
      </dgm:t>
    </dgm:pt>
    <dgm:pt modelId="{82864085-065C-4CC1-A360-DADF070DB232}" type="parTrans" cxnId="{3F53FA8F-51A6-4D13-A863-0C6BC5E4DCF3}">
      <dgm:prSet/>
      <dgm:spPr/>
      <dgm:t>
        <a:bodyPr/>
        <a:lstStyle/>
        <a:p>
          <a:endParaRPr lang="en-US"/>
        </a:p>
      </dgm:t>
    </dgm:pt>
    <dgm:pt modelId="{052152C3-F5AF-4A8D-84B4-36D47FE48FE1}" type="sibTrans" cxnId="{3F53FA8F-51A6-4D13-A863-0C6BC5E4DCF3}">
      <dgm:prSet/>
      <dgm:spPr/>
      <dgm:t>
        <a:bodyPr/>
        <a:lstStyle/>
        <a:p>
          <a:endParaRPr lang="en-US"/>
        </a:p>
      </dgm:t>
    </dgm:pt>
    <dgm:pt modelId="{10A658AC-AA56-4CFF-99B6-E1BDA213D429}">
      <dgm:prSet/>
      <dgm:spPr/>
      <dgm:t>
        <a:bodyPr/>
        <a:lstStyle/>
        <a:p>
          <a:r>
            <a:rPr lang="en-US" dirty="0"/>
            <a:t>Privacy‑Lite today (no server PHI); Clinical Mode later for providers.</a:t>
          </a:r>
        </a:p>
      </dgm:t>
    </dgm:pt>
    <dgm:pt modelId="{4A8279A5-B7CF-4E97-BB41-58FF89A47B50}" type="parTrans" cxnId="{24643837-F893-4566-A850-A49718CD4807}">
      <dgm:prSet/>
      <dgm:spPr/>
      <dgm:t>
        <a:bodyPr/>
        <a:lstStyle/>
        <a:p>
          <a:endParaRPr lang="en-US"/>
        </a:p>
      </dgm:t>
    </dgm:pt>
    <dgm:pt modelId="{D7CD36F3-72F2-4E52-981D-A5031B3B0B7D}" type="sibTrans" cxnId="{24643837-F893-4566-A850-A49718CD4807}">
      <dgm:prSet/>
      <dgm:spPr/>
      <dgm:t>
        <a:bodyPr/>
        <a:lstStyle/>
        <a:p>
          <a:endParaRPr lang="en-US"/>
        </a:p>
      </dgm:t>
    </dgm:pt>
    <dgm:pt modelId="{C362E67C-E021-45B3-8B4A-421797CC8F33}">
      <dgm:prSet/>
      <dgm:spPr/>
      <dgm:t>
        <a:bodyPr/>
        <a:lstStyle/>
        <a:p>
          <a:r>
            <a:rPr lang="en-US"/>
            <a:t>Free for families &amp; public schools; easy clinic/school referrals.</a:t>
          </a:r>
        </a:p>
      </dgm:t>
    </dgm:pt>
    <dgm:pt modelId="{28642636-05A7-4753-9526-0417ED8FD72C}" type="parTrans" cxnId="{2E9E2414-59E6-4CC5-A75F-8DDCE53E5D85}">
      <dgm:prSet/>
      <dgm:spPr/>
      <dgm:t>
        <a:bodyPr/>
        <a:lstStyle/>
        <a:p>
          <a:endParaRPr lang="en-US"/>
        </a:p>
      </dgm:t>
    </dgm:pt>
    <dgm:pt modelId="{4DDD6B77-8A80-45A6-90BE-A4D8F26AC386}" type="sibTrans" cxnId="{2E9E2414-59E6-4CC5-A75F-8DDCE53E5D85}">
      <dgm:prSet/>
      <dgm:spPr/>
      <dgm:t>
        <a:bodyPr/>
        <a:lstStyle/>
        <a:p>
          <a:endParaRPr lang="en-US"/>
        </a:p>
      </dgm:t>
    </dgm:pt>
    <dgm:pt modelId="{8755EF51-2FD8-48AD-8AB5-63273F33978B}" type="pres">
      <dgm:prSet presAssocID="{A8A0D159-0BDC-49F2-96ED-7A107050CE60}" presName="outerComposite" presStyleCnt="0">
        <dgm:presLayoutVars>
          <dgm:chMax val="5"/>
          <dgm:dir/>
          <dgm:resizeHandles val="exact"/>
        </dgm:presLayoutVars>
      </dgm:prSet>
      <dgm:spPr/>
    </dgm:pt>
    <dgm:pt modelId="{BF8FAF19-130B-442F-A147-938DB6FA0B69}" type="pres">
      <dgm:prSet presAssocID="{A8A0D159-0BDC-49F2-96ED-7A107050CE60}" presName="dummyMaxCanvas" presStyleCnt="0">
        <dgm:presLayoutVars/>
      </dgm:prSet>
      <dgm:spPr/>
    </dgm:pt>
    <dgm:pt modelId="{F434E7F9-7AD1-43F5-B380-E058A24672D0}" type="pres">
      <dgm:prSet presAssocID="{A8A0D159-0BDC-49F2-96ED-7A107050CE60}" presName="FiveNodes_1" presStyleLbl="node1" presStyleIdx="0" presStyleCnt="5" custScaleX="59739">
        <dgm:presLayoutVars>
          <dgm:bulletEnabled val="1"/>
        </dgm:presLayoutVars>
      </dgm:prSet>
      <dgm:spPr/>
    </dgm:pt>
    <dgm:pt modelId="{206B8DC3-4CE3-49AB-97EC-434A1A8B541D}" type="pres">
      <dgm:prSet presAssocID="{A8A0D159-0BDC-49F2-96ED-7A107050CE60}" presName="FiveNodes_2" presStyleLbl="node1" presStyleIdx="1" presStyleCnt="5" custScaleX="61875">
        <dgm:presLayoutVars>
          <dgm:bulletEnabled val="1"/>
        </dgm:presLayoutVars>
      </dgm:prSet>
      <dgm:spPr/>
    </dgm:pt>
    <dgm:pt modelId="{37CC9A13-BC7B-4C5B-A02E-F059AD3E4D3E}" type="pres">
      <dgm:prSet presAssocID="{A8A0D159-0BDC-49F2-96ED-7A107050CE60}" presName="FiveNodes_3" presStyleLbl="node1" presStyleIdx="2" presStyleCnt="5" custScaleX="63156">
        <dgm:presLayoutVars>
          <dgm:bulletEnabled val="1"/>
        </dgm:presLayoutVars>
      </dgm:prSet>
      <dgm:spPr/>
    </dgm:pt>
    <dgm:pt modelId="{82BA058B-EFEF-4AEA-8357-A8E0302CFDF5}" type="pres">
      <dgm:prSet presAssocID="{A8A0D159-0BDC-49F2-96ED-7A107050CE60}" presName="FiveNodes_4" presStyleLbl="node1" presStyleIdx="3" presStyleCnt="5" custScaleX="63493">
        <dgm:presLayoutVars>
          <dgm:bulletEnabled val="1"/>
        </dgm:presLayoutVars>
      </dgm:prSet>
      <dgm:spPr/>
    </dgm:pt>
    <dgm:pt modelId="{070A489D-8604-418A-84C1-DD8D3703AB52}" type="pres">
      <dgm:prSet presAssocID="{A8A0D159-0BDC-49F2-96ED-7A107050CE60}" presName="FiveNodes_5" presStyleLbl="node1" presStyleIdx="4" presStyleCnt="5" custScaleX="64614">
        <dgm:presLayoutVars>
          <dgm:bulletEnabled val="1"/>
        </dgm:presLayoutVars>
      </dgm:prSet>
      <dgm:spPr/>
    </dgm:pt>
    <dgm:pt modelId="{288A7CAF-81EC-4B44-9447-88FE73070D66}" type="pres">
      <dgm:prSet presAssocID="{A8A0D159-0BDC-49F2-96ED-7A107050CE60}" presName="FiveConn_1-2" presStyleLbl="fgAccFollowNode1" presStyleIdx="0" presStyleCnt="4" custLinFactX="-91249" custLinFactNeighborX="-100000" custLinFactNeighborY="-59154">
        <dgm:presLayoutVars>
          <dgm:bulletEnabled val="1"/>
        </dgm:presLayoutVars>
      </dgm:prSet>
      <dgm:spPr/>
    </dgm:pt>
    <dgm:pt modelId="{FE910C36-504F-4F84-85BB-4C68AE8E7445}" type="pres">
      <dgm:prSet presAssocID="{A8A0D159-0BDC-49F2-96ED-7A107050CE60}" presName="FiveConn_2-3" presStyleLbl="fgAccFollowNode1" presStyleIdx="1" presStyleCnt="4" custLinFactX="-74949" custLinFactNeighborX="-100000" custLinFactNeighborY="-60115">
        <dgm:presLayoutVars>
          <dgm:bulletEnabled val="1"/>
        </dgm:presLayoutVars>
      </dgm:prSet>
      <dgm:spPr/>
    </dgm:pt>
    <dgm:pt modelId="{D20685C3-7CAA-41FC-BAEF-6996BD50960E}" type="pres">
      <dgm:prSet presAssocID="{A8A0D159-0BDC-49F2-96ED-7A107050CE60}" presName="FiveConn_3-4" presStyleLbl="fgAccFollowNode1" presStyleIdx="2" presStyleCnt="4" custLinFactX="-51718" custLinFactNeighborX="-100000" custLinFactNeighborY="-42755">
        <dgm:presLayoutVars>
          <dgm:bulletEnabled val="1"/>
        </dgm:presLayoutVars>
      </dgm:prSet>
      <dgm:spPr/>
    </dgm:pt>
    <dgm:pt modelId="{2680BA9C-165F-4508-82A7-76AA96F36248}" type="pres">
      <dgm:prSet presAssocID="{A8A0D159-0BDC-49F2-96ED-7A107050CE60}" presName="FiveConn_4-5" presStyleLbl="fgAccFollowNode1" presStyleIdx="3" presStyleCnt="4" custLinFactX="-51718" custLinFactNeighborX="-100000" custLinFactNeighborY="-48664">
        <dgm:presLayoutVars>
          <dgm:bulletEnabled val="1"/>
        </dgm:presLayoutVars>
      </dgm:prSet>
      <dgm:spPr/>
    </dgm:pt>
    <dgm:pt modelId="{74598821-B6B1-4DC8-B56C-C52BF59EE550}" type="pres">
      <dgm:prSet presAssocID="{A8A0D159-0BDC-49F2-96ED-7A107050CE60}" presName="FiveNodes_1_text" presStyleLbl="node1" presStyleIdx="4" presStyleCnt="5">
        <dgm:presLayoutVars>
          <dgm:bulletEnabled val="1"/>
        </dgm:presLayoutVars>
      </dgm:prSet>
      <dgm:spPr/>
    </dgm:pt>
    <dgm:pt modelId="{3E01C8C4-57EF-423B-BB12-5A91C2FB9C49}" type="pres">
      <dgm:prSet presAssocID="{A8A0D159-0BDC-49F2-96ED-7A107050CE60}" presName="FiveNodes_2_text" presStyleLbl="node1" presStyleIdx="4" presStyleCnt="5">
        <dgm:presLayoutVars>
          <dgm:bulletEnabled val="1"/>
        </dgm:presLayoutVars>
      </dgm:prSet>
      <dgm:spPr/>
    </dgm:pt>
    <dgm:pt modelId="{66C44B58-4C09-4D99-98BF-E2431F90CBCD}" type="pres">
      <dgm:prSet presAssocID="{A8A0D159-0BDC-49F2-96ED-7A107050CE60}" presName="FiveNodes_3_text" presStyleLbl="node1" presStyleIdx="4" presStyleCnt="5">
        <dgm:presLayoutVars>
          <dgm:bulletEnabled val="1"/>
        </dgm:presLayoutVars>
      </dgm:prSet>
      <dgm:spPr/>
    </dgm:pt>
    <dgm:pt modelId="{A0E3D98E-5164-4758-93A3-4434DD27BB56}" type="pres">
      <dgm:prSet presAssocID="{A8A0D159-0BDC-49F2-96ED-7A107050CE60}" presName="FiveNodes_4_text" presStyleLbl="node1" presStyleIdx="4" presStyleCnt="5">
        <dgm:presLayoutVars>
          <dgm:bulletEnabled val="1"/>
        </dgm:presLayoutVars>
      </dgm:prSet>
      <dgm:spPr/>
    </dgm:pt>
    <dgm:pt modelId="{E08C8C77-5052-4390-A3BC-A5A321B0A740}" type="pres">
      <dgm:prSet presAssocID="{A8A0D159-0BDC-49F2-96ED-7A107050CE6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D544510-DA0E-48AB-9687-677A51D29402}" type="presOf" srcId="{BC597123-C83B-42EF-B328-9C30F2D7B71C}" destId="{37CC9A13-BC7B-4C5B-A02E-F059AD3E4D3E}" srcOrd="0" destOrd="0" presId="urn:microsoft.com/office/officeart/2005/8/layout/vProcess5"/>
    <dgm:cxn modelId="{2E9E2414-59E6-4CC5-A75F-8DDCE53E5D85}" srcId="{A8A0D159-0BDC-49F2-96ED-7A107050CE60}" destId="{C362E67C-E021-45B3-8B4A-421797CC8F33}" srcOrd="4" destOrd="0" parTransId="{28642636-05A7-4753-9526-0417ED8FD72C}" sibTransId="{4DDD6B77-8A80-45A6-90BE-A4D8F26AC386}"/>
    <dgm:cxn modelId="{24643837-F893-4566-A850-A49718CD4807}" srcId="{A8A0D159-0BDC-49F2-96ED-7A107050CE60}" destId="{10A658AC-AA56-4CFF-99B6-E1BDA213D429}" srcOrd="3" destOrd="0" parTransId="{4A8279A5-B7CF-4E97-BB41-58FF89A47B50}" sibTransId="{D7CD36F3-72F2-4E52-981D-A5031B3B0B7D}"/>
    <dgm:cxn modelId="{3308A337-E6DE-455C-8759-4EAD80776B91}" type="presOf" srcId="{6507EA14-1F41-4569-AD84-FE33F38F2A3E}" destId="{FE910C36-504F-4F84-85BB-4C68AE8E7445}" srcOrd="0" destOrd="0" presId="urn:microsoft.com/office/officeart/2005/8/layout/vProcess5"/>
    <dgm:cxn modelId="{2EE75F3F-F2F9-4B4E-B3A2-7E6A53C0C36B}" type="presOf" srcId="{F12476C6-E95D-47B2-818E-5BE5E68B2F04}" destId="{F434E7F9-7AD1-43F5-B380-E058A24672D0}" srcOrd="0" destOrd="0" presId="urn:microsoft.com/office/officeart/2005/8/layout/vProcess5"/>
    <dgm:cxn modelId="{2A451C5C-E06B-4313-9D04-20A683F0E309}" type="presOf" srcId="{C362E67C-E021-45B3-8B4A-421797CC8F33}" destId="{E08C8C77-5052-4390-A3BC-A5A321B0A740}" srcOrd="1" destOrd="0" presId="urn:microsoft.com/office/officeart/2005/8/layout/vProcess5"/>
    <dgm:cxn modelId="{0DDA8445-EADF-419D-A1E2-014F9EB3D80F}" type="presOf" srcId="{10A658AC-AA56-4CFF-99B6-E1BDA213D429}" destId="{82BA058B-EFEF-4AEA-8357-A8E0302CFDF5}" srcOrd="0" destOrd="0" presId="urn:microsoft.com/office/officeart/2005/8/layout/vProcess5"/>
    <dgm:cxn modelId="{F429EB69-9D4D-47A4-AC80-1D3E42268461}" type="presOf" srcId="{A8A0D159-0BDC-49F2-96ED-7A107050CE60}" destId="{8755EF51-2FD8-48AD-8AB5-63273F33978B}" srcOrd="0" destOrd="0" presId="urn:microsoft.com/office/officeart/2005/8/layout/vProcess5"/>
    <dgm:cxn modelId="{3F53FA8F-51A6-4D13-A863-0C6BC5E4DCF3}" srcId="{A8A0D159-0BDC-49F2-96ED-7A107050CE60}" destId="{BC597123-C83B-42EF-B328-9C30F2D7B71C}" srcOrd="2" destOrd="0" parTransId="{82864085-065C-4CC1-A360-DADF070DB232}" sibTransId="{052152C3-F5AF-4A8D-84B4-36D47FE48FE1}"/>
    <dgm:cxn modelId="{FEC08896-61D8-41B6-B1FE-BF72451CFD43}" type="presOf" srcId="{D7CD36F3-72F2-4E52-981D-A5031B3B0B7D}" destId="{2680BA9C-165F-4508-82A7-76AA96F36248}" srcOrd="0" destOrd="0" presId="urn:microsoft.com/office/officeart/2005/8/layout/vProcess5"/>
    <dgm:cxn modelId="{37A61A9D-1DF2-4B51-8052-D46946CE5881}" type="presOf" srcId="{052152C3-F5AF-4A8D-84B4-36D47FE48FE1}" destId="{D20685C3-7CAA-41FC-BAEF-6996BD50960E}" srcOrd="0" destOrd="0" presId="urn:microsoft.com/office/officeart/2005/8/layout/vProcess5"/>
    <dgm:cxn modelId="{3DD6DFAE-C49F-4AFA-8B4C-4B0B69DF2486}" type="presOf" srcId="{532ED16B-0A2F-4D7E-B91C-3BC791AC33FE}" destId="{3E01C8C4-57EF-423B-BB12-5A91C2FB9C49}" srcOrd="1" destOrd="0" presId="urn:microsoft.com/office/officeart/2005/8/layout/vProcess5"/>
    <dgm:cxn modelId="{C3A837B8-CBDF-420A-9656-94F4D7C21DE3}" type="presOf" srcId="{C362E67C-E021-45B3-8B4A-421797CC8F33}" destId="{070A489D-8604-418A-84C1-DD8D3703AB52}" srcOrd="0" destOrd="0" presId="urn:microsoft.com/office/officeart/2005/8/layout/vProcess5"/>
    <dgm:cxn modelId="{10F45DC0-30D1-423A-A335-60C4C361BD8A}" srcId="{A8A0D159-0BDC-49F2-96ED-7A107050CE60}" destId="{F12476C6-E95D-47B2-818E-5BE5E68B2F04}" srcOrd="0" destOrd="0" parTransId="{45CC4E78-9F0E-411E-99C3-A4702702945F}" sibTransId="{81D83615-ECD0-4A23-898C-1EB5C88653CF}"/>
    <dgm:cxn modelId="{272B31C2-B54E-4F8C-B277-C2DBEF98360B}" type="presOf" srcId="{BC597123-C83B-42EF-B328-9C30F2D7B71C}" destId="{66C44B58-4C09-4D99-98BF-E2431F90CBCD}" srcOrd="1" destOrd="0" presId="urn:microsoft.com/office/officeart/2005/8/layout/vProcess5"/>
    <dgm:cxn modelId="{F4EB8DC4-D0EC-42B8-8D7A-08A71584FEC0}" type="presOf" srcId="{532ED16B-0A2F-4D7E-B91C-3BC791AC33FE}" destId="{206B8DC3-4CE3-49AB-97EC-434A1A8B541D}" srcOrd="0" destOrd="0" presId="urn:microsoft.com/office/officeart/2005/8/layout/vProcess5"/>
    <dgm:cxn modelId="{5133D5C4-E178-4BBC-8BAE-4087971B00DA}" srcId="{A8A0D159-0BDC-49F2-96ED-7A107050CE60}" destId="{532ED16B-0A2F-4D7E-B91C-3BC791AC33FE}" srcOrd="1" destOrd="0" parTransId="{F50334C7-8971-431F-A0AB-9400E5EF770E}" sibTransId="{6507EA14-1F41-4569-AD84-FE33F38F2A3E}"/>
    <dgm:cxn modelId="{9B9181E8-FE97-4069-9E5D-B09F896AF9F7}" type="presOf" srcId="{81D83615-ECD0-4A23-898C-1EB5C88653CF}" destId="{288A7CAF-81EC-4B44-9447-88FE73070D66}" srcOrd="0" destOrd="0" presId="urn:microsoft.com/office/officeart/2005/8/layout/vProcess5"/>
    <dgm:cxn modelId="{BE7D99F0-3A29-4677-8005-BED6928AABF1}" type="presOf" srcId="{10A658AC-AA56-4CFF-99B6-E1BDA213D429}" destId="{A0E3D98E-5164-4758-93A3-4434DD27BB56}" srcOrd="1" destOrd="0" presId="urn:microsoft.com/office/officeart/2005/8/layout/vProcess5"/>
    <dgm:cxn modelId="{DB6B54FA-FD27-4424-829A-195D6D2995F5}" type="presOf" srcId="{F12476C6-E95D-47B2-818E-5BE5E68B2F04}" destId="{74598821-B6B1-4DC8-B56C-C52BF59EE550}" srcOrd="1" destOrd="0" presId="urn:microsoft.com/office/officeart/2005/8/layout/vProcess5"/>
    <dgm:cxn modelId="{BE262669-70BC-4CE0-9823-32498D289C15}" type="presParOf" srcId="{8755EF51-2FD8-48AD-8AB5-63273F33978B}" destId="{BF8FAF19-130B-442F-A147-938DB6FA0B69}" srcOrd="0" destOrd="0" presId="urn:microsoft.com/office/officeart/2005/8/layout/vProcess5"/>
    <dgm:cxn modelId="{3A226E59-0E3C-4AF2-AC31-FFE4DAB78A8C}" type="presParOf" srcId="{8755EF51-2FD8-48AD-8AB5-63273F33978B}" destId="{F434E7F9-7AD1-43F5-B380-E058A24672D0}" srcOrd="1" destOrd="0" presId="urn:microsoft.com/office/officeart/2005/8/layout/vProcess5"/>
    <dgm:cxn modelId="{F50769D5-3A46-4694-A9B9-290EA6646936}" type="presParOf" srcId="{8755EF51-2FD8-48AD-8AB5-63273F33978B}" destId="{206B8DC3-4CE3-49AB-97EC-434A1A8B541D}" srcOrd="2" destOrd="0" presId="urn:microsoft.com/office/officeart/2005/8/layout/vProcess5"/>
    <dgm:cxn modelId="{CFF42886-C53A-4435-BDBC-AE1C057028CB}" type="presParOf" srcId="{8755EF51-2FD8-48AD-8AB5-63273F33978B}" destId="{37CC9A13-BC7B-4C5B-A02E-F059AD3E4D3E}" srcOrd="3" destOrd="0" presId="urn:microsoft.com/office/officeart/2005/8/layout/vProcess5"/>
    <dgm:cxn modelId="{A5D62B60-733B-4C16-AB31-0B0D3C30B0AA}" type="presParOf" srcId="{8755EF51-2FD8-48AD-8AB5-63273F33978B}" destId="{82BA058B-EFEF-4AEA-8357-A8E0302CFDF5}" srcOrd="4" destOrd="0" presId="urn:microsoft.com/office/officeart/2005/8/layout/vProcess5"/>
    <dgm:cxn modelId="{A9E64C21-ACB1-4FC2-B1EE-34ACD981620C}" type="presParOf" srcId="{8755EF51-2FD8-48AD-8AB5-63273F33978B}" destId="{070A489D-8604-418A-84C1-DD8D3703AB52}" srcOrd="5" destOrd="0" presId="urn:microsoft.com/office/officeart/2005/8/layout/vProcess5"/>
    <dgm:cxn modelId="{F0EA6B84-3B4A-42E9-B527-5DF4CB8DDF58}" type="presParOf" srcId="{8755EF51-2FD8-48AD-8AB5-63273F33978B}" destId="{288A7CAF-81EC-4B44-9447-88FE73070D66}" srcOrd="6" destOrd="0" presId="urn:microsoft.com/office/officeart/2005/8/layout/vProcess5"/>
    <dgm:cxn modelId="{A4186D67-C3F4-477E-AA9E-315752656D23}" type="presParOf" srcId="{8755EF51-2FD8-48AD-8AB5-63273F33978B}" destId="{FE910C36-504F-4F84-85BB-4C68AE8E7445}" srcOrd="7" destOrd="0" presId="urn:microsoft.com/office/officeart/2005/8/layout/vProcess5"/>
    <dgm:cxn modelId="{6740E139-2B7A-4F16-9CD6-929BB14FF0C8}" type="presParOf" srcId="{8755EF51-2FD8-48AD-8AB5-63273F33978B}" destId="{D20685C3-7CAA-41FC-BAEF-6996BD50960E}" srcOrd="8" destOrd="0" presId="urn:microsoft.com/office/officeart/2005/8/layout/vProcess5"/>
    <dgm:cxn modelId="{8E93C6A6-741F-45C1-B786-9D5C0C30CA03}" type="presParOf" srcId="{8755EF51-2FD8-48AD-8AB5-63273F33978B}" destId="{2680BA9C-165F-4508-82A7-76AA96F36248}" srcOrd="9" destOrd="0" presId="urn:microsoft.com/office/officeart/2005/8/layout/vProcess5"/>
    <dgm:cxn modelId="{AC724523-201A-432B-ADF8-493D4BAE276E}" type="presParOf" srcId="{8755EF51-2FD8-48AD-8AB5-63273F33978B}" destId="{74598821-B6B1-4DC8-B56C-C52BF59EE550}" srcOrd="10" destOrd="0" presId="urn:microsoft.com/office/officeart/2005/8/layout/vProcess5"/>
    <dgm:cxn modelId="{89BD83DE-52D4-40A4-B7EC-245DEDABCC08}" type="presParOf" srcId="{8755EF51-2FD8-48AD-8AB5-63273F33978B}" destId="{3E01C8C4-57EF-423B-BB12-5A91C2FB9C49}" srcOrd="11" destOrd="0" presId="urn:microsoft.com/office/officeart/2005/8/layout/vProcess5"/>
    <dgm:cxn modelId="{0EA6ED50-65DC-483A-A4C1-6FD5C177FD32}" type="presParOf" srcId="{8755EF51-2FD8-48AD-8AB5-63273F33978B}" destId="{66C44B58-4C09-4D99-98BF-E2431F90CBCD}" srcOrd="12" destOrd="0" presId="urn:microsoft.com/office/officeart/2005/8/layout/vProcess5"/>
    <dgm:cxn modelId="{3D37477A-8351-4E26-B33B-0B52FB82F569}" type="presParOf" srcId="{8755EF51-2FD8-48AD-8AB5-63273F33978B}" destId="{A0E3D98E-5164-4758-93A3-4434DD27BB56}" srcOrd="13" destOrd="0" presId="urn:microsoft.com/office/officeart/2005/8/layout/vProcess5"/>
    <dgm:cxn modelId="{938520B4-18FF-4CBB-AA54-CF994AC0A5D5}" type="presParOf" srcId="{8755EF51-2FD8-48AD-8AB5-63273F33978B}" destId="{E08C8C77-5052-4390-A3BC-A5A321B0A740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B9BA8B-5BD1-47CC-A98E-ADCFC221407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17E280C-135F-414B-8B6F-4A9A8F445347}">
      <dgm:prSet custT="1"/>
      <dgm:spPr/>
      <dgm:t>
        <a:bodyPr/>
        <a:lstStyle/>
        <a:p>
          <a:r>
            <a:rPr lang="en-US" sz="1800" dirty="0"/>
            <a:t>Introductions: 3–5 pediatric therapy programs/children’s hospitals; 2–3 national org partners.</a:t>
          </a:r>
        </a:p>
      </dgm:t>
    </dgm:pt>
    <dgm:pt modelId="{DBE93F8C-8337-46E0-BACE-C017031EAE0D}" type="parTrans" cxnId="{899B6C75-7B8D-463B-B459-9E28AA2FF34B}">
      <dgm:prSet/>
      <dgm:spPr/>
      <dgm:t>
        <a:bodyPr/>
        <a:lstStyle/>
        <a:p>
          <a:endParaRPr lang="en-US"/>
        </a:p>
      </dgm:t>
    </dgm:pt>
    <dgm:pt modelId="{AB472873-0F04-4CD2-821C-93D2B6C1ABD6}" type="sibTrans" cxnId="{899B6C75-7B8D-463B-B459-9E28AA2FF34B}">
      <dgm:prSet/>
      <dgm:spPr/>
      <dgm:t>
        <a:bodyPr/>
        <a:lstStyle/>
        <a:p>
          <a:endParaRPr lang="en-US"/>
        </a:p>
      </dgm:t>
    </dgm:pt>
    <dgm:pt modelId="{9751D661-AF19-4EFD-91D2-CFE833C0B0C3}">
      <dgm:prSet custT="1"/>
      <dgm:spPr/>
      <dgm:t>
        <a:bodyPr/>
        <a:lstStyle/>
        <a:p>
          <a:r>
            <a:rPr lang="en-US" sz="1800" dirty="0"/>
            <a:t>Funding: [e.g., $1-2M seed] to build content, expand engineering, and run pilots.</a:t>
          </a:r>
        </a:p>
      </dgm:t>
    </dgm:pt>
    <dgm:pt modelId="{77DDA28A-09BD-4F93-AE67-51984AF83DF7}" type="parTrans" cxnId="{221EF43B-0D9E-42D6-B3DB-A8D00C7F2CB8}">
      <dgm:prSet/>
      <dgm:spPr/>
      <dgm:t>
        <a:bodyPr/>
        <a:lstStyle/>
        <a:p>
          <a:endParaRPr lang="en-US"/>
        </a:p>
      </dgm:t>
    </dgm:pt>
    <dgm:pt modelId="{ACC83AFD-B28F-4D0D-9F50-F759D7C85FB3}" type="sibTrans" cxnId="{221EF43B-0D9E-42D6-B3DB-A8D00C7F2CB8}">
      <dgm:prSet/>
      <dgm:spPr/>
      <dgm:t>
        <a:bodyPr/>
        <a:lstStyle/>
        <a:p>
          <a:endParaRPr lang="en-US"/>
        </a:p>
      </dgm:t>
    </dgm:pt>
    <dgm:pt modelId="{7362787E-3363-4387-B6C7-18D5498D26E7}">
      <dgm:prSet/>
      <dgm:spPr/>
      <dgm:t>
        <a:bodyPr/>
        <a:lstStyle/>
        <a:p>
          <a:r>
            <a:rPr lang="en-US" dirty="0"/>
            <a:t>Use of funds: content/clinical review, privacy/compliance, GTM pilots, measurement.</a:t>
          </a:r>
        </a:p>
      </dgm:t>
    </dgm:pt>
    <dgm:pt modelId="{E67A39EB-BAF2-4081-A1AA-FB28F3129BFE}" type="parTrans" cxnId="{1ECD77EA-4F80-4CC1-874F-B79F61C2DADF}">
      <dgm:prSet/>
      <dgm:spPr/>
      <dgm:t>
        <a:bodyPr/>
        <a:lstStyle/>
        <a:p>
          <a:endParaRPr lang="en-US"/>
        </a:p>
      </dgm:t>
    </dgm:pt>
    <dgm:pt modelId="{AD6EA2D8-82DF-4FFE-936E-AE8674031093}" type="sibTrans" cxnId="{1ECD77EA-4F80-4CC1-874F-B79F61C2DADF}">
      <dgm:prSet/>
      <dgm:spPr/>
      <dgm:t>
        <a:bodyPr/>
        <a:lstStyle/>
        <a:p>
          <a:endParaRPr lang="en-US"/>
        </a:p>
      </dgm:t>
    </dgm:pt>
    <dgm:pt modelId="{3D1C2D57-4889-4FDC-9BEF-A2692480DE3A}" type="pres">
      <dgm:prSet presAssocID="{B0B9BA8B-5BD1-47CC-A98E-ADCFC221407F}" presName="root" presStyleCnt="0">
        <dgm:presLayoutVars>
          <dgm:dir/>
          <dgm:resizeHandles val="exact"/>
        </dgm:presLayoutVars>
      </dgm:prSet>
      <dgm:spPr/>
    </dgm:pt>
    <dgm:pt modelId="{E019EE46-EE8C-41F1-B112-067003407FA2}" type="pres">
      <dgm:prSet presAssocID="{F17E280C-135F-414B-8B6F-4A9A8F445347}" presName="compNode" presStyleCnt="0"/>
      <dgm:spPr/>
    </dgm:pt>
    <dgm:pt modelId="{F8C00C96-AE18-4559-B0FB-C632324F4B3C}" type="pres">
      <dgm:prSet presAssocID="{F17E280C-135F-414B-8B6F-4A9A8F4453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89DB472D-0C0B-4912-A15E-C03F848A17D9}" type="pres">
      <dgm:prSet presAssocID="{F17E280C-135F-414B-8B6F-4A9A8F445347}" presName="spaceRect" presStyleCnt="0"/>
      <dgm:spPr/>
    </dgm:pt>
    <dgm:pt modelId="{8A416532-2002-49AA-92BD-9797814F6C8F}" type="pres">
      <dgm:prSet presAssocID="{F17E280C-135F-414B-8B6F-4A9A8F445347}" presName="textRect" presStyleLbl="revTx" presStyleIdx="0" presStyleCnt="3">
        <dgm:presLayoutVars>
          <dgm:chMax val="1"/>
          <dgm:chPref val="1"/>
        </dgm:presLayoutVars>
      </dgm:prSet>
      <dgm:spPr/>
    </dgm:pt>
    <dgm:pt modelId="{0B6FDF97-F671-4A27-9415-DB13DEDD47F7}" type="pres">
      <dgm:prSet presAssocID="{AB472873-0F04-4CD2-821C-93D2B6C1ABD6}" presName="sibTrans" presStyleCnt="0"/>
      <dgm:spPr/>
    </dgm:pt>
    <dgm:pt modelId="{F296E721-EC6C-4BAC-A478-4EB659671615}" type="pres">
      <dgm:prSet presAssocID="{9751D661-AF19-4EFD-91D2-CFE833C0B0C3}" presName="compNode" presStyleCnt="0"/>
      <dgm:spPr/>
    </dgm:pt>
    <dgm:pt modelId="{3A1F5498-A8C7-44BA-8E85-D91FC9AA74E9}" type="pres">
      <dgm:prSet presAssocID="{9751D661-AF19-4EFD-91D2-CFE833C0B0C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672157C6-28FB-41B4-85AA-A08C472C7E48}" type="pres">
      <dgm:prSet presAssocID="{9751D661-AF19-4EFD-91D2-CFE833C0B0C3}" presName="spaceRect" presStyleCnt="0"/>
      <dgm:spPr/>
    </dgm:pt>
    <dgm:pt modelId="{4A548D77-9355-4DE3-8757-9DABE5052B2D}" type="pres">
      <dgm:prSet presAssocID="{9751D661-AF19-4EFD-91D2-CFE833C0B0C3}" presName="textRect" presStyleLbl="revTx" presStyleIdx="1" presStyleCnt="3">
        <dgm:presLayoutVars>
          <dgm:chMax val="1"/>
          <dgm:chPref val="1"/>
        </dgm:presLayoutVars>
      </dgm:prSet>
      <dgm:spPr/>
    </dgm:pt>
    <dgm:pt modelId="{EB7943DD-4083-4EFC-824F-26EF5C35E792}" type="pres">
      <dgm:prSet presAssocID="{ACC83AFD-B28F-4D0D-9F50-F759D7C85FB3}" presName="sibTrans" presStyleCnt="0"/>
      <dgm:spPr/>
    </dgm:pt>
    <dgm:pt modelId="{C5E6B885-F5E6-4380-B233-7C8147ED8E1D}" type="pres">
      <dgm:prSet presAssocID="{7362787E-3363-4387-B6C7-18D5498D26E7}" presName="compNode" presStyleCnt="0"/>
      <dgm:spPr/>
    </dgm:pt>
    <dgm:pt modelId="{F1D77805-A3A8-458C-9705-4626F6D25AE2}" type="pres">
      <dgm:prSet presAssocID="{7362787E-3363-4387-B6C7-18D5498D26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9754019-C76C-432A-A0E5-76D9E3F163CD}" type="pres">
      <dgm:prSet presAssocID="{7362787E-3363-4387-B6C7-18D5498D26E7}" presName="spaceRect" presStyleCnt="0"/>
      <dgm:spPr/>
    </dgm:pt>
    <dgm:pt modelId="{FB1B175E-42A9-4518-9A5C-5E12CCB4EE8C}" type="pres">
      <dgm:prSet presAssocID="{7362787E-3363-4387-B6C7-18D5498D26E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B9ED16-A335-4F13-866D-235ABB295147}" type="presOf" srcId="{7362787E-3363-4387-B6C7-18D5498D26E7}" destId="{FB1B175E-42A9-4518-9A5C-5E12CCB4EE8C}" srcOrd="0" destOrd="0" presId="urn:microsoft.com/office/officeart/2018/2/layout/IconLabelList"/>
    <dgm:cxn modelId="{221EF43B-0D9E-42D6-B3DB-A8D00C7F2CB8}" srcId="{B0B9BA8B-5BD1-47CC-A98E-ADCFC221407F}" destId="{9751D661-AF19-4EFD-91D2-CFE833C0B0C3}" srcOrd="1" destOrd="0" parTransId="{77DDA28A-09BD-4F93-AE67-51984AF83DF7}" sibTransId="{ACC83AFD-B28F-4D0D-9F50-F759D7C85FB3}"/>
    <dgm:cxn modelId="{DAFC6D45-5B57-4FD3-99F0-CC7C3A5233A3}" type="presOf" srcId="{F17E280C-135F-414B-8B6F-4A9A8F445347}" destId="{8A416532-2002-49AA-92BD-9797814F6C8F}" srcOrd="0" destOrd="0" presId="urn:microsoft.com/office/officeart/2018/2/layout/IconLabelList"/>
    <dgm:cxn modelId="{841D2E50-E425-4BE1-96EB-1D4739EBA3C4}" type="presOf" srcId="{9751D661-AF19-4EFD-91D2-CFE833C0B0C3}" destId="{4A548D77-9355-4DE3-8757-9DABE5052B2D}" srcOrd="0" destOrd="0" presId="urn:microsoft.com/office/officeart/2018/2/layout/IconLabelList"/>
    <dgm:cxn modelId="{899B6C75-7B8D-463B-B459-9E28AA2FF34B}" srcId="{B0B9BA8B-5BD1-47CC-A98E-ADCFC221407F}" destId="{F17E280C-135F-414B-8B6F-4A9A8F445347}" srcOrd="0" destOrd="0" parTransId="{DBE93F8C-8337-46E0-BACE-C017031EAE0D}" sibTransId="{AB472873-0F04-4CD2-821C-93D2B6C1ABD6}"/>
    <dgm:cxn modelId="{D87D4578-177F-4232-B93F-8DD3CA937043}" type="presOf" srcId="{B0B9BA8B-5BD1-47CC-A98E-ADCFC221407F}" destId="{3D1C2D57-4889-4FDC-9BEF-A2692480DE3A}" srcOrd="0" destOrd="0" presId="urn:microsoft.com/office/officeart/2018/2/layout/IconLabelList"/>
    <dgm:cxn modelId="{1ECD77EA-4F80-4CC1-874F-B79F61C2DADF}" srcId="{B0B9BA8B-5BD1-47CC-A98E-ADCFC221407F}" destId="{7362787E-3363-4387-B6C7-18D5498D26E7}" srcOrd="2" destOrd="0" parTransId="{E67A39EB-BAF2-4081-A1AA-FB28F3129BFE}" sibTransId="{AD6EA2D8-82DF-4FFE-936E-AE8674031093}"/>
    <dgm:cxn modelId="{9468092C-AC6A-4B40-B318-F68C877B99CB}" type="presParOf" srcId="{3D1C2D57-4889-4FDC-9BEF-A2692480DE3A}" destId="{E019EE46-EE8C-41F1-B112-067003407FA2}" srcOrd="0" destOrd="0" presId="urn:microsoft.com/office/officeart/2018/2/layout/IconLabelList"/>
    <dgm:cxn modelId="{E7CF2497-A173-4321-BA62-3059E99B0FD6}" type="presParOf" srcId="{E019EE46-EE8C-41F1-B112-067003407FA2}" destId="{F8C00C96-AE18-4559-B0FB-C632324F4B3C}" srcOrd="0" destOrd="0" presId="urn:microsoft.com/office/officeart/2018/2/layout/IconLabelList"/>
    <dgm:cxn modelId="{E6AFF9A5-B8FA-4818-9E48-CEC1BB2E2D03}" type="presParOf" srcId="{E019EE46-EE8C-41F1-B112-067003407FA2}" destId="{89DB472D-0C0B-4912-A15E-C03F848A17D9}" srcOrd="1" destOrd="0" presId="urn:microsoft.com/office/officeart/2018/2/layout/IconLabelList"/>
    <dgm:cxn modelId="{198A0A38-DC90-4688-AC01-7C56A1134478}" type="presParOf" srcId="{E019EE46-EE8C-41F1-B112-067003407FA2}" destId="{8A416532-2002-49AA-92BD-9797814F6C8F}" srcOrd="2" destOrd="0" presId="urn:microsoft.com/office/officeart/2018/2/layout/IconLabelList"/>
    <dgm:cxn modelId="{621E6DD6-571A-4384-85EE-7BC8832D6E22}" type="presParOf" srcId="{3D1C2D57-4889-4FDC-9BEF-A2692480DE3A}" destId="{0B6FDF97-F671-4A27-9415-DB13DEDD47F7}" srcOrd="1" destOrd="0" presId="urn:microsoft.com/office/officeart/2018/2/layout/IconLabelList"/>
    <dgm:cxn modelId="{8B5519E4-A937-43DD-8E5F-92F6470D46D9}" type="presParOf" srcId="{3D1C2D57-4889-4FDC-9BEF-A2692480DE3A}" destId="{F296E721-EC6C-4BAC-A478-4EB659671615}" srcOrd="2" destOrd="0" presId="urn:microsoft.com/office/officeart/2018/2/layout/IconLabelList"/>
    <dgm:cxn modelId="{9A1FBDA1-6A1E-4F2A-8491-52AA586A0EAC}" type="presParOf" srcId="{F296E721-EC6C-4BAC-A478-4EB659671615}" destId="{3A1F5498-A8C7-44BA-8E85-D91FC9AA74E9}" srcOrd="0" destOrd="0" presId="urn:microsoft.com/office/officeart/2018/2/layout/IconLabelList"/>
    <dgm:cxn modelId="{CE5D1B40-AB82-4307-9A2B-F4F41F56B0C7}" type="presParOf" srcId="{F296E721-EC6C-4BAC-A478-4EB659671615}" destId="{672157C6-28FB-41B4-85AA-A08C472C7E48}" srcOrd="1" destOrd="0" presId="urn:microsoft.com/office/officeart/2018/2/layout/IconLabelList"/>
    <dgm:cxn modelId="{3943E491-9ECE-44F6-953D-CF07A93B6EC2}" type="presParOf" srcId="{F296E721-EC6C-4BAC-A478-4EB659671615}" destId="{4A548D77-9355-4DE3-8757-9DABE5052B2D}" srcOrd="2" destOrd="0" presId="urn:microsoft.com/office/officeart/2018/2/layout/IconLabelList"/>
    <dgm:cxn modelId="{29F5C0D7-E2B4-4066-A98E-C51965D400FB}" type="presParOf" srcId="{3D1C2D57-4889-4FDC-9BEF-A2692480DE3A}" destId="{EB7943DD-4083-4EFC-824F-26EF5C35E792}" srcOrd="3" destOrd="0" presId="urn:microsoft.com/office/officeart/2018/2/layout/IconLabelList"/>
    <dgm:cxn modelId="{D9541E92-5793-4E59-B907-326F31E009BF}" type="presParOf" srcId="{3D1C2D57-4889-4FDC-9BEF-A2692480DE3A}" destId="{C5E6B885-F5E6-4380-B233-7C8147ED8E1D}" srcOrd="4" destOrd="0" presId="urn:microsoft.com/office/officeart/2018/2/layout/IconLabelList"/>
    <dgm:cxn modelId="{04F496E9-B9BB-41EE-94CC-1E12790F32C5}" type="presParOf" srcId="{C5E6B885-F5E6-4380-B233-7C8147ED8E1D}" destId="{F1D77805-A3A8-458C-9705-4626F6D25AE2}" srcOrd="0" destOrd="0" presId="urn:microsoft.com/office/officeart/2018/2/layout/IconLabelList"/>
    <dgm:cxn modelId="{5209E2DF-5356-4A13-B77E-909AE17ECB39}" type="presParOf" srcId="{C5E6B885-F5E6-4380-B233-7C8147ED8E1D}" destId="{39754019-C76C-432A-A0E5-76D9E3F163CD}" srcOrd="1" destOrd="0" presId="urn:microsoft.com/office/officeart/2018/2/layout/IconLabelList"/>
    <dgm:cxn modelId="{2F63BD50-EA21-46A2-819C-351F2A9AE9BF}" type="presParOf" srcId="{C5E6B885-F5E6-4380-B233-7C8147ED8E1D}" destId="{FB1B175E-42A9-4518-9A5C-5E12CCB4EE8C}" srcOrd="2" destOrd="0" presId="urn:microsoft.com/office/officeart/2018/2/layout/Icon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79B3DCF-4EDA-4F1A-AF70-8EA908F651E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FA8A67A-D901-4541-B445-667A9DC82532}">
      <dgm:prSet/>
      <dgm:spPr/>
      <dgm:t>
        <a:bodyPr/>
        <a:lstStyle/>
        <a:p>
          <a:r>
            <a:rPr lang="en-US"/>
            <a:t>Sara Soltani</a:t>
          </a:r>
        </a:p>
      </dgm:t>
    </dgm:pt>
    <dgm:pt modelId="{E97EB04C-C558-4924-80FD-73CC021D6023}" type="parTrans" cxnId="{EF05ACAE-9FBE-4FA8-9F3D-35C7357FB089}">
      <dgm:prSet/>
      <dgm:spPr/>
      <dgm:t>
        <a:bodyPr/>
        <a:lstStyle/>
        <a:p>
          <a:endParaRPr lang="en-US"/>
        </a:p>
      </dgm:t>
    </dgm:pt>
    <dgm:pt modelId="{C1B0C71B-BD00-4380-8238-F52366E8D407}" type="sibTrans" cxnId="{EF05ACAE-9FBE-4FA8-9F3D-35C7357FB089}">
      <dgm:prSet/>
      <dgm:spPr/>
      <dgm:t>
        <a:bodyPr/>
        <a:lstStyle/>
        <a:p>
          <a:endParaRPr lang="en-US"/>
        </a:p>
      </dgm:t>
    </dgm:pt>
    <dgm:pt modelId="{B3735CB4-8800-4372-ADC6-E42977ED63E5}">
      <dgm:prSet/>
      <dgm:spPr/>
      <dgm:t>
        <a:bodyPr/>
        <a:lstStyle/>
        <a:p>
          <a:r>
            <a:rPr lang="en-US"/>
            <a:t>sarasz@berkeley.edu • 415‑712‑9981</a:t>
          </a:r>
        </a:p>
      </dgm:t>
    </dgm:pt>
    <dgm:pt modelId="{7BC7034A-6032-4396-9929-5B638BAB593F}" type="parTrans" cxnId="{C847C4FB-7E1A-4372-8A1D-4269CE0121F5}">
      <dgm:prSet/>
      <dgm:spPr/>
      <dgm:t>
        <a:bodyPr/>
        <a:lstStyle/>
        <a:p>
          <a:endParaRPr lang="en-US"/>
        </a:p>
      </dgm:t>
    </dgm:pt>
    <dgm:pt modelId="{7D4E5B0E-28B1-45D1-B27C-F96C80E7F653}" type="sibTrans" cxnId="{C847C4FB-7E1A-4372-8A1D-4269CE0121F5}">
      <dgm:prSet/>
      <dgm:spPr/>
      <dgm:t>
        <a:bodyPr/>
        <a:lstStyle/>
        <a:p>
          <a:endParaRPr lang="en-US"/>
        </a:p>
      </dgm:t>
    </dgm:pt>
    <dgm:pt modelId="{0076F465-33B9-418D-ABED-4F2D736F7289}">
      <dgm:prSet/>
      <dgm:spPr/>
      <dgm:t>
        <a:bodyPr/>
        <a:lstStyle/>
        <a:p>
          <a:r>
            <a:rPr lang="en-US" dirty="0"/>
            <a:t>Genex – Genetics Made Practical</a:t>
          </a:r>
        </a:p>
      </dgm:t>
    </dgm:pt>
    <dgm:pt modelId="{D689A7EA-C15B-4607-9503-DC2BC2FBE6B0}" type="parTrans" cxnId="{ECA058E6-193D-4EBA-A5CE-035FBC70523E}">
      <dgm:prSet/>
      <dgm:spPr/>
      <dgm:t>
        <a:bodyPr/>
        <a:lstStyle/>
        <a:p>
          <a:endParaRPr lang="en-US"/>
        </a:p>
      </dgm:t>
    </dgm:pt>
    <dgm:pt modelId="{AE16542A-E245-475C-A47D-D308F5A1DE89}" type="sibTrans" cxnId="{ECA058E6-193D-4EBA-A5CE-035FBC70523E}">
      <dgm:prSet/>
      <dgm:spPr/>
      <dgm:t>
        <a:bodyPr/>
        <a:lstStyle/>
        <a:p>
          <a:endParaRPr lang="en-US"/>
        </a:p>
      </dgm:t>
    </dgm:pt>
    <dgm:pt modelId="{EA2AE7DF-B808-4C33-A5D7-7EB58E07F239}" type="pres">
      <dgm:prSet presAssocID="{C79B3DCF-4EDA-4F1A-AF70-8EA908F651E4}" presName="root" presStyleCnt="0">
        <dgm:presLayoutVars>
          <dgm:dir/>
          <dgm:resizeHandles val="exact"/>
        </dgm:presLayoutVars>
      </dgm:prSet>
      <dgm:spPr/>
    </dgm:pt>
    <dgm:pt modelId="{627ABAD7-2674-40ED-BF4F-0DF5F913C894}" type="pres">
      <dgm:prSet presAssocID="{6FA8A67A-D901-4541-B445-667A9DC82532}" presName="compNode" presStyleCnt="0"/>
      <dgm:spPr/>
    </dgm:pt>
    <dgm:pt modelId="{85B9C6F8-8ACA-422D-B8FF-BE63D5446BB4}" type="pres">
      <dgm:prSet presAssocID="{6FA8A67A-D901-4541-B445-667A9DC8253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"/>
        </a:ext>
      </dgm:extLst>
    </dgm:pt>
    <dgm:pt modelId="{0ED160C8-ECA9-4828-9692-ACFBF4C82547}" type="pres">
      <dgm:prSet presAssocID="{6FA8A67A-D901-4541-B445-667A9DC82532}" presName="spaceRect" presStyleCnt="0"/>
      <dgm:spPr/>
    </dgm:pt>
    <dgm:pt modelId="{36FB9FB8-A867-45A1-89FE-9B4C1F03C91E}" type="pres">
      <dgm:prSet presAssocID="{6FA8A67A-D901-4541-B445-667A9DC82532}" presName="textRect" presStyleLbl="revTx" presStyleIdx="0" presStyleCnt="3">
        <dgm:presLayoutVars>
          <dgm:chMax val="1"/>
          <dgm:chPref val="1"/>
        </dgm:presLayoutVars>
      </dgm:prSet>
      <dgm:spPr/>
    </dgm:pt>
    <dgm:pt modelId="{642BEF61-FB1F-496E-88D7-0F5493E11036}" type="pres">
      <dgm:prSet presAssocID="{C1B0C71B-BD00-4380-8238-F52366E8D407}" presName="sibTrans" presStyleCnt="0"/>
      <dgm:spPr/>
    </dgm:pt>
    <dgm:pt modelId="{EC75629F-36A7-4A2D-BB0E-CEF296AFC24E}" type="pres">
      <dgm:prSet presAssocID="{B3735CB4-8800-4372-ADC6-E42977ED63E5}" presName="compNode" presStyleCnt="0"/>
      <dgm:spPr/>
    </dgm:pt>
    <dgm:pt modelId="{01DBA5DB-FCEB-46D5-9616-54477D31D6AA}" type="pres">
      <dgm:prSet presAssocID="{B3735CB4-8800-4372-ADC6-E42977ED63E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DB288FDE-C660-4DF6-A31F-8E0883169FB1}" type="pres">
      <dgm:prSet presAssocID="{B3735CB4-8800-4372-ADC6-E42977ED63E5}" presName="spaceRect" presStyleCnt="0"/>
      <dgm:spPr/>
    </dgm:pt>
    <dgm:pt modelId="{15E03F46-DAEA-41AD-8353-033501F6FE2B}" type="pres">
      <dgm:prSet presAssocID="{B3735CB4-8800-4372-ADC6-E42977ED63E5}" presName="textRect" presStyleLbl="revTx" presStyleIdx="1" presStyleCnt="3">
        <dgm:presLayoutVars>
          <dgm:chMax val="1"/>
          <dgm:chPref val="1"/>
        </dgm:presLayoutVars>
      </dgm:prSet>
      <dgm:spPr/>
    </dgm:pt>
    <dgm:pt modelId="{638A5BC6-3E10-47B0-A57E-9E3C82B14A97}" type="pres">
      <dgm:prSet presAssocID="{7D4E5B0E-28B1-45D1-B27C-F96C80E7F653}" presName="sibTrans" presStyleCnt="0"/>
      <dgm:spPr/>
    </dgm:pt>
    <dgm:pt modelId="{C85688E3-A327-4EC3-BC75-60686CE35CAE}" type="pres">
      <dgm:prSet presAssocID="{0076F465-33B9-418D-ABED-4F2D736F7289}" presName="compNode" presStyleCnt="0"/>
      <dgm:spPr/>
    </dgm:pt>
    <dgm:pt modelId="{F5091E60-B2B5-460F-A11E-180E66690063}" type="pres">
      <dgm:prSet presAssocID="{0076F465-33B9-418D-ABED-4F2D736F72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5EEE8FF8-5A57-41EA-966D-B273FDDA2F8B}" type="pres">
      <dgm:prSet presAssocID="{0076F465-33B9-418D-ABED-4F2D736F7289}" presName="spaceRect" presStyleCnt="0"/>
      <dgm:spPr/>
    </dgm:pt>
    <dgm:pt modelId="{CE7B2D06-20A3-47F5-B995-8F4DD0F5336B}" type="pres">
      <dgm:prSet presAssocID="{0076F465-33B9-418D-ABED-4F2D736F728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B627411-D119-4EA0-A956-40CFB425AC92}" type="presOf" srcId="{B3735CB4-8800-4372-ADC6-E42977ED63E5}" destId="{15E03F46-DAEA-41AD-8353-033501F6FE2B}" srcOrd="0" destOrd="0" presId="urn:microsoft.com/office/officeart/2018/2/layout/IconLabelList"/>
    <dgm:cxn modelId="{0D46E93C-888B-4E04-A025-55C5AE5BF587}" type="presOf" srcId="{6FA8A67A-D901-4541-B445-667A9DC82532}" destId="{36FB9FB8-A867-45A1-89FE-9B4C1F03C91E}" srcOrd="0" destOrd="0" presId="urn:microsoft.com/office/officeart/2018/2/layout/IconLabelList"/>
    <dgm:cxn modelId="{5048825D-BE92-446F-9EFA-6B30345EC3F6}" type="presOf" srcId="{0076F465-33B9-418D-ABED-4F2D736F7289}" destId="{CE7B2D06-20A3-47F5-B995-8F4DD0F5336B}" srcOrd="0" destOrd="0" presId="urn:microsoft.com/office/officeart/2018/2/layout/IconLabelList"/>
    <dgm:cxn modelId="{EF05ACAE-9FBE-4FA8-9F3D-35C7357FB089}" srcId="{C79B3DCF-4EDA-4F1A-AF70-8EA908F651E4}" destId="{6FA8A67A-D901-4541-B445-667A9DC82532}" srcOrd="0" destOrd="0" parTransId="{E97EB04C-C558-4924-80FD-73CC021D6023}" sibTransId="{C1B0C71B-BD00-4380-8238-F52366E8D407}"/>
    <dgm:cxn modelId="{E73C2AE4-CB63-421D-9B18-7B03D3E41811}" type="presOf" srcId="{C79B3DCF-4EDA-4F1A-AF70-8EA908F651E4}" destId="{EA2AE7DF-B808-4C33-A5D7-7EB58E07F239}" srcOrd="0" destOrd="0" presId="urn:microsoft.com/office/officeart/2018/2/layout/IconLabelList"/>
    <dgm:cxn modelId="{ECA058E6-193D-4EBA-A5CE-035FBC70523E}" srcId="{C79B3DCF-4EDA-4F1A-AF70-8EA908F651E4}" destId="{0076F465-33B9-418D-ABED-4F2D736F7289}" srcOrd="2" destOrd="0" parTransId="{D689A7EA-C15B-4607-9503-DC2BC2FBE6B0}" sibTransId="{AE16542A-E245-475C-A47D-D308F5A1DE89}"/>
    <dgm:cxn modelId="{C847C4FB-7E1A-4372-8A1D-4269CE0121F5}" srcId="{C79B3DCF-4EDA-4F1A-AF70-8EA908F651E4}" destId="{B3735CB4-8800-4372-ADC6-E42977ED63E5}" srcOrd="1" destOrd="0" parTransId="{7BC7034A-6032-4396-9929-5B638BAB593F}" sibTransId="{7D4E5B0E-28B1-45D1-B27C-F96C80E7F653}"/>
    <dgm:cxn modelId="{DE20BFD7-7FE0-4070-9C3F-4D0356735983}" type="presParOf" srcId="{EA2AE7DF-B808-4C33-A5D7-7EB58E07F239}" destId="{627ABAD7-2674-40ED-BF4F-0DF5F913C894}" srcOrd="0" destOrd="0" presId="urn:microsoft.com/office/officeart/2018/2/layout/IconLabelList"/>
    <dgm:cxn modelId="{244C0800-9D27-4442-BE97-EC5BC1FA5920}" type="presParOf" srcId="{627ABAD7-2674-40ED-BF4F-0DF5F913C894}" destId="{85B9C6F8-8ACA-422D-B8FF-BE63D5446BB4}" srcOrd="0" destOrd="0" presId="urn:microsoft.com/office/officeart/2018/2/layout/IconLabelList"/>
    <dgm:cxn modelId="{B641AAC6-9E2A-44BD-9D73-14B9F31A29EB}" type="presParOf" srcId="{627ABAD7-2674-40ED-BF4F-0DF5F913C894}" destId="{0ED160C8-ECA9-4828-9692-ACFBF4C82547}" srcOrd="1" destOrd="0" presId="urn:microsoft.com/office/officeart/2018/2/layout/IconLabelList"/>
    <dgm:cxn modelId="{5CF680B2-8575-44BA-ADE5-6FCCD6E2A85B}" type="presParOf" srcId="{627ABAD7-2674-40ED-BF4F-0DF5F913C894}" destId="{36FB9FB8-A867-45A1-89FE-9B4C1F03C91E}" srcOrd="2" destOrd="0" presId="urn:microsoft.com/office/officeart/2018/2/layout/IconLabelList"/>
    <dgm:cxn modelId="{CBE9784D-368C-4032-B65A-824708F41BEA}" type="presParOf" srcId="{EA2AE7DF-B808-4C33-A5D7-7EB58E07F239}" destId="{642BEF61-FB1F-496E-88D7-0F5493E11036}" srcOrd="1" destOrd="0" presId="urn:microsoft.com/office/officeart/2018/2/layout/IconLabelList"/>
    <dgm:cxn modelId="{5741B461-A5CE-40C7-828C-264AAA752E6E}" type="presParOf" srcId="{EA2AE7DF-B808-4C33-A5D7-7EB58E07F239}" destId="{EC75629F-36A7-4A2D-BB0E-CEF296AFC24E}" srcOrd="2" destOrd="0" presId="urn:microsoft.com/office/officeart/2018/2/layout/IconLabelList"/>
    <dgm:cxn modelId="{2B528863-E993-4740-8968-E2124B1B7C7C}" type="presParOf" srcId="{EC75629F-36A7-4A2D-BB0E-CEF296AFC24E}" destId="{01DBA5DB-FCEB-46D5-9616-54477D31D6AA}" srcOrd="0" destOrd="0" presId="urn:microsoft.com/office/officeart/2018/2/layout/IconLabelList"/>
    <dgm:cxn modelId="{5B0E3C26-949F-411C-B30C-22593522ECF9}" type="presParOf" srcId="{EC75629F-36A7-4A2D-BB0E-CEF296AFC24E}" destId="{DB288FDE-C660-4DF6-A31F-8E0883169FB1}" srcOrd="1" destOrd="0" presId="urn:microsoft.com/office/officeart/2018/2/layout/IconLabelList"/>
    <dgm:cxn modelId="{5481D413-2E5F-433C-A682-A94C1DC3C1EC}" type="presParOf" srcId="{EC75629F-36A7-4A2D-BB0E-CEF296AFC24E}" destId="{15E03F46-DAEA-41AD-8353-033501F6FE2B}" srcOrd="2" destOrd="0" presId="urn:microsoft.com/office/officeart/2018/2/layout/IconLabelList"/>
    <dgm:cxn modelId="{E42E2225-8D2C-467C-850F-34E05E9CF11F}" type="presParOf" srcId="{EA2AE7DF-B808-4C33-A5D7-7EB58E07F239}" destId="{638A5BC6-3E10-47B0-A57E-9E3C82B14A97}" srcOrd="3" destOrd="0" presId="urn:microsoft.com/office/officeart/2018/2/layout/IconLabelList"/>
    <dgm:cxn modelId="{15BAABC4-288B-41C6-86CE-9DEED75352F7}" type="presParOf" srcId="{EA2AE7DF-B808-4C33-A5D7-7EB58E07F239}" destId="{C85688E3-A327-4EC3-BC75-60686CE35CAE}" srcOrd="4" destOrd="0" presId="urn:microsoft.com/office/officeart/2018/2/layout/IconLabelList"/>
    <dgm:cxn modelId="{AB3BDC05-03F3-4866-AB54-105A3C1F00D8}" type="presParOf" srcId="{C85688E3-A327-4EC3-BC75-60686CE35CAE}" destId="{F5091E60-B2B5-460F-A11E-180E66690063}" srcOrd="0" destOrd="0" presId="urn:microsoft.com/office/officeart/2018/2/layout/IconLabelList"/>
    <dgm:cxn modelId="{6C967FEC-2567-4E9F-BCC3-1DF6729ACB48}" type="presParOf" srcId="{C85688E3-A327-4EC3-BC75-60686CE35CAE}" destId="{5EEE8FF8-5A57-41EA-966D-B273FDDA2F8B}" srcOrd="1" destOrd="0" presId="urn:microsoft.com/office/officeart/2018/2/layout/IconLabelList"/>
    <dgm:cxn modelId="{40EE27E2-6FE0-49DF-890F-0C404380380D}" type="presParOf" srcId="{C85688E3-A327-4EC3-BC75-60686CE35CAE}" destId="{CE7B2D06-20A3-47F5-B995-8F4DD0F5336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2CEB7D-4745-4F57-A0B3-EE8ABFDD5FA3}">
      <dsp:nvSpPr>
        <dsp:cNvPr id="0" name=""/>
        <dsp:cNvSpPr/>
      </dsp:nvSpPr>
      <dsp:spPr>
        <a:xfrm>
          <a:off x="1586133" y="1621"/>
          <a:ext cx="4974182" cy="70887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Parents leave with a diagnosis—but no Tuesday plan.</a:t>
          </a:r>
        </a:p>
      </dsp:txBody>
      <dsp:txXfrm>
        <a:off x="1620738" y="36226"/>
        <a:ext cx="4904972" cy="639667"/>
      </dsp:txXfrm>
    </dsp:sp>
    <dsp:sp modelId="{1107F899-045E-4BF7-8561-54331F045A6E}">
      <dsp:nvSpPr>
        <dsp:cNvPr id="0" name=""/>
        <dsp:cNvSpPr/>
      </dsp:nvSpPr>
      <dsp:spPr>
        <a:xfrm>
          <a:off x="1586133" y="745942"/>
          <a:ext cx="5017938" cy="708877"/>
        </a:xfrm>
        <a:prstGeom prst="roundRect">
          <a:avLst/>
        </a:prstGeom>
        <a:solidFill>
          <a:schemeClr val="accent5">
            <a:hueOff val="-2495436"/>
            <a:satOff val="-3864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Paper handouts don’t translate into daily routines at home or school.</a:t>
          </a:r>
        </a:p>
      </dsp:txBody>
      <dsp:txXfrm>
        <a:off x="1620738" y="780547"/>
        <a:ext cx="4948728" cy="639667"/>
      </dsp:txXfrm>
    </dsp:sp>
    <dsp:sp modelId="{962F8EE4-41DD-4221-9258-0462DE53EBFF}">
      <dsp:nvSpPr>
        <dsp:cNvPr id="0" name=""/>
        <dsp:cNvSpPr/>
      </dsp:nvSpPr>
      <dsp:spPr>
        <a:xfrm>
          <a:off x="1586133" y="1490263"/>
          <a:ext cx="4998878" cy="708877"/>
        </a:xfrm>
        <a:prstGeom prst="roundRect">
          <a:avLst/>
        </a:prstGeom>
        <a:solidFill>
          <a:schemeClr val="accent5">
            <a:hueOff val="-4990872"/>
            <a:satOff val="-7727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Time-poor caregivers need 5–10 minutes, step-by-step guidance.</a:t>
          </a:r>
        </a:p>
      </dsp:txBody>
      <dsp:txXfrm>
        <a:off x="1620738" y="1524868"/>
        <a:ext cx="4929668" cy="639667"/>
      </dsp:txXfrm>
    </dsp:sp>
    <dsp:sp modelId="{A699E2CF-924D-4562-AF10-E548AA73CAD2}">
      <dsp:nvSpPr>
        <dsp:cNvPr id="0" name=""/>
        <dsp:cNvSpPr/>
      </dsp:nvSpPr>
      <dsp:spPr>
        <a:xfrm>
          <a:off x="1586133" y="2234585"/>
          <a:ext cx="4968517" cy="708877"/>
        </a:xfrm>
        <a:prstGeom prst="roundRect">
          <a:avLst/>
        </a:prstGeom>
        <a:solidFill>
          <a:schemeClr val="accent5">
            <a:hueOff val="-7486308"/>
            <a:satOff val="-11591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Inconsistent IEP/home‑program alignment; language &amp; literacy barriers.</a:t>
          </a:r>
        </a:p>
      </dsp:txBody>
      <dsp:txXfrm>
        <a:off x="1620738" y="2269190"/>
        <a:ext cx="4899307" cy="639667"/>
      </dsp:txXfrm>
    </dsp:sp>
    <dsp:sp modelId="{0930E21C-12E5-46EA-83E5-F974EA85A2F2}">
      <dsp:nvSpPr>
        <dsp:cNvPr id="0" name=""/>
        <dsp:cNvSpPr/>
      </dsp:nvSpPr>
      <dsp:spPr>
        <a:xfrm>
          <a:off x="1586133" y="2978906"/>
          <a:ext cx="5023603" cy="708877"/>
        </a:xfrm>
        <a:prstGeom prst="roundRect">
          <a:avLst/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Clinics lack visibility into home adherence and outcomes.</a:t>
          </a:r>
        </a:p>
      </dsp:txBody>
      <dsp:txXfrm>
        <a:off x="1620738" y="3013511"/>
        <a:ext cx="4954393" cy="63966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34E7F9-7AD1-43F5-B380-E058A24672D0}">
      <dsp:nvSpPr>
        <dsp:cNvPr id="0" name=""/>
        <dsp:cNvSpPr/>
      </dsp:nvSpPr>
      <dsp:spPr>
        <a:xfrm>
          <a:off x="1145383" y="0"/>
          <a:ext cx="3399025" cy="66409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Genex app builds daily 5–10‑minute routines aligned to goals and IEPs (Individual Education Plans by school districts).</a:t>
          </a:r>
        </a:p>
      </dsp:txBody>
      <dsp:txXfrm>
        <a:off x="1164834" y="19451"/>
        <a:ext cx="2908851" cy="625190"/>
      </dsp:txXfrm>
    </dsp:sp>
    <dsp:sp modelId="{206B8DC3-4CE3-49AB-97EC-434A1A8B541D}">
      <dsp:nvSpPr>
        <dsp:cNvPr id="0" name=""/>
        <dsp:cNvSpPr/>
      </dsp:nvSpPr>
      <dsp:spPr>
        <a:xfrm>
          <a:off x="1509503" y="756328"/>
          <a:ext cx="3520559" cy="664092"/>
        </a:xfrm>
        <a:prstGeom prst="roundRect">
          <a:avLst>
            <a:gd name="adj" fmla="val 10000"/>
          </a:avLst>
        </a:prstGeom>
        <a:solidFill>
          <a:schemeClr val="accent5">
            <a:hueOff val="-2495436"/>
            <a:satOff val="-3864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Transparent knowledge graph: suggestions include sources &amp; confidence level – color schemes.</a:t>
          </a:r>
        </a:p>
      </dsp:txBody>
      <dsp:txXfrm>
        <a:off x="1528954" y="775779"/>
        <a:ext cx="2951668" cy="625190"/>
      </dsp:txXfrm>
    </dsp:sp>
    <dsp:sp modelId="{37CC9A13-BC7B-4C5B-A02E-F059AD3E4D3E}">
      <dsp:nvSpPr>
        <dsp:cNvPr id="0" name=""/>
        <dsp:cNvSpPr/>
      </dsp:nvSpPr>
      <dsp:spPr>
        <a:xfrm>
          <a:off x="1897947" y="1512656"/>
          <a:ext cx="3593445" cy="664092"/>
        </a:xfrm>
        <a:prstGeom prst="roundRect">
          <a:avLst>
            <a:gd name="adj" fmla="val 10000"/>
          </a:avLst>
        </a:prstGeom>
        <a:solidFill>
          <a:schemeClr val="accent5">
            <a:hueOff val="-4990872"/>
            <a:satOff val="-7727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Reminders, progress loops, and printable EN/ES handouts.</a:t>
          </a:r>
        </a:p>
      </dsp:txBody>
      <dsp:txXfrm>
        <a:off x="1917398" y="1532107"/>
        <a:ext cx="3013582" cy="625190"/>
      </dsp:txXfrm>
    </dsp:sp>
    <dsp:sp modelId="{82BA058B-EFEF-4AEA-8357-A8E0302CFDF5}">
      <dsp:nvSpPr>
        <dsp:cNvPr id="0" name=""/>
        <dsp:cNvSpPr/>
      </dsp:nvSpPr>
      <dsp:spPr>
        <a:xfrm>
          <a:off x="2313247" y="2268984"/>
          <a:ext cx="3612619" cy="664092"/>
        </a:xfrm>
        <a:prstGeom prst="roundRect">
          <a:avLst>
            <a:gd name="adj" fmla="val 10000"/>
          </a:avLst>
        </a:prstGeom>
        <a:solidFill>
          <a:schemeClr val="accent5">
            <a:hueOff val="-7486308"/>
            <a:satOff val="-11591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Privacy‑Lite today (no server PHI); Clinical Mode later for providers.</a:t>
          </a:r>
        </a:p>
      </dsp:txBody>
      <dsp:txXfrm>
        <a:off x="2332698" y="2288435"/>
        <a:ext cx="3029870" cy="625190"/>
      </dsp:txXfrm>
    </dsp:sp>
    <dsp:sp modelId="{070A489D-8604-418A-84C1-DD8D3703AB52}">
      <dsp:nvSpPr>
        <dsp:cNvPr id="0" name=""/>
        <dsp:cNvSpPr/>
      </dsp:nvSpPr>
      <dsp:spPr>
        <a:xfrm>
          <a:off x="2706243" y="3025312"/>
          <a:ext cx="3676402" cy="664092"/>
        </a:xfrm>
        <a:prstGeom prst="roundRect">
          <a:avLst>
            <a:gd name="adj" fmla="val 10000"/>
          </a:avLst>
        </a:prstGeom>
        <a:solidFill>
          <a:schemeClr val="accent5">
            <a:hueOff val="-9981745"/>
            <a:satOff val="-15454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Free for families &amp; public schools; easy clinic/school referrals.</a:t>
          </a:r>
        </a:p>
      </dsp:txBody>
      <dsp:txXfrm>
        <a:off x="2725694" y="3044763"/>
        <a:ext cx="3084050" cy="625190"/>
      </dsp:txXfrm>
    </dsp:sp>
    <dsp:sp modelId="{288A7CAF-81EC-4B44-9447-88FE73070D66}">
      <dsp:nvSpPr>
        <dsp:cNvPr id="0" name=""/>
        <dsp:cNvSpPr/>
      </dsp:nvSpPr>
      <dsp:spPr>
        <a:xfrm>
          <a:off x="4432586" y="229812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529709" y="229812"/>
        <a:ext cx="237414" cy="324824"/>
      </dsp:txXfrm>
    </dsp:sp>
    <dsp:sp modelId="{FE910C36-504F-4F84-85BB-4C68AE8E7445}">
      <dsp:nvSpPr>
        <dsp:cNvPr id="0" name=""/>
        <dsp:cNvSpPr/>
      </dsp:nvSpPr>
      <dsp:spPr>
        <a:xfrm>
          <a:off x="4927833" y="981992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293080"/>
            <a:satOff val="-3796"/>
            <a:lumOff val="-52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024956" y="981992"/>
        <a:ext cx="237414" cy="324824"/>
      </dsp:txXfrm>
    </dsp:sp>
    <dsp:sp modelId="{D20685C3-7CAA-41FC-BAEF-6996BD50960E}">
      <dsp:nvSpPr>
        <dsp:cNvPr id="0" name=""/>
        <dsp:cNvSpPr/>
      </dsp:nvSpPr>
      <dsp:spPr>
        <a:xfrm>
          <a:off x="5452999" y="1802188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6586160"/>
            <a:satOff val="-7591"/>
            <a:lumOff val="-103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550122" y="1802188"/>
        <a:ext cx="237414" cy="324824"/>
      </dsp:txXfrm>
    </dsp:sp>
    <dsp:sp modelId="{2680BA9C-165F-4508-82A7-76AA96F36248}">
      <dsp:nvSpPr>
        <dsp:cNvPr id="0" name=""/>
        <dsp:cNvSpPr/>
      </dsp:nvSpPr>
      <dsp:spPr>
        <a:xfrm>
          <a:off x="5877887" y="2540388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9879240"/>
            <a:satOff val="-11387"/>
            <a:lumOff val="-155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5010" y="2540388"/>
        <a:ext cx="237414" cy="3248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C00C96-AE18-4559-B0FB-C632324F4B3C}">
      <dsp:nvSpPr>
        <dsp:cNvPr id="0" name=""/>
        <dsp:cNvSpPr/>
      </dsp:nvSpPr>
      <dsp:spPr>
        <a:xfrm>
          <a:off x="738477" y="72000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16532-2002-49AA-92BD-9797814F6C8F}">
      <dsp:nvSpPr>
        <dsp:cNvPr id="0" name=""/>
        <dsp:cNvSpPr/>
      </dsp:nvSpPr>
      <dsp:spPr>
        <a:xfrm>
          <a:off x="78583" y="2212802"/>
          <a:ext cx="2399612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Introductions: 3–5 pediatric therapy programs/children’s hospitals; 2–3 national org partners.</a:t>
          </a:r>
        </a:p>
      </dsp:txBody>
      <dsp:txXfrm>
        <a:off x="78583" y="2212802"/>
        <a:ext cx="2399612" cy="1260000"/>
      </dsp:txXfrm>
    </dsp:sp>
    <dsp:sp modelId="{3A1F5498-A8C7-44BA-8E85-D91FC9AA74E9}">
      <dsp:nvSpPr>
        <dsp:cNvPr id="0" name=""/>
        <dsp:cNvSpPr/>
      </dsp:nvSpPr>
      <dsp:spPr>
        <a:xfrm>
          <a:off x="3558022" y="72000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48D77-9355-4DE3-8757-9DABE5052B2D}">
      <dsp:nvSpPr>
        <dsp:cNvPr id="0" name=""/>
        <dsp:cNvSpPr/>
      </dsp:nvSpPr>
      <dsp:spPr>
        <a:xfrm>
          <a:off x="2898129" y="2212802"/>
          <a:ext cx="2399612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Funding: [e.g., $1-2M seed] to build content, expand engineering, and run pilots.</a:t>
          </a:r>
        </a:p>
      </dsp:txBody>
      <dsp:txXfrm>
        <a:off x="2898129" y="2212802"/>
        <a:ext cx="2399612" cy="1260000"/>
      </dsp:txXfrm>
    </dsp:sp>
    <dsp:sp modelId="{F1D77805-A3A8-458C-9705-4626F6D25AE2}">
      <dsp:nvSpPr>
        <dsp:cNvPr id="0" name=""/>
        <dsp:cNvSpPr/>
      </dsp:nvSpPr>
      <dsp:spPr>
        <a:xfrm>
          <a:off x="6377567" y="72000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1B175E-42A9-4518-9A5C-5E12CCB4EE8C}">
      <dsp:nvSpPr>
        <dsp:cNvPr id="0" name=""/>
        <dsp:cNvSpPr/>
      </dsp:nvSpPr>
      <dsp:spPr>
        <a:xfrm>
          <a:off x="5717674" y="2212802"/>
          <a:ext cx="2399612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 of funds: content/clinical review, privacy/compliance, GTM pilots, measurement.</a:t>
          </a:r>
        </a:p>
      </dsp:txBody>
      <dsp:txXfrm>
        <a:off x="5717674" y="2212802"/>
        <a:ext cx="2399612" cy="126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B9C6F8-8ACA-422D-B8FF-BE63D5446BB4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FB9FB8-A867-45A1-89FE-9B4C1F03C91E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Sara Soltani</a:t>
          </a:r>
        </a:p>
      </dsp:txBody>
      <dsp:txXfrm>
        <a:off x="78583" y="2435142"/>
        <a:ext cx="2399612" cy="720000"/>
      </dsp:txXfrm>
    </dsp:sp>
    <dsp:sp modelId="{01DBA5DB-FCEB-46D5-9616-54477D31D6AA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E03F46-DAEA-41AD-8353-033501F6FE2B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sarasz@berkeley.edu • 415‑712‑9981</a:t>
          </a:r>
        </a:p>
      </dsp:txBody>
      <dsp:txXfrm>
        <a:off x="2898129" y="2435142"/>
        <a:ext cx="2399612" cy="720000"/>
      </dsp:txXfrm>
    </dsp:sp>
    <dsp:sp modelId="{F5091E60-B2B5-460F-A11E-180E66690063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B2D06-20A3-47F5-B995-8F4DD0F5336B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Genex – Genetics Made Practical</a:t>
          </a:r>
        </a:p>
      </dsp:txBody>
      <dsp:txXfrm>
        <a:off x="5717674" y="2435142"/>
        <a:ext cx="239961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93FFD-9E7E-4EE5-9565-24FE184EAABE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66B562-9625-4610-BFB9-B690D2588E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47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etgenex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030" y="2767106"/>
            <a:ext cx="2160621" cy="3071906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000" dirty="0">
                <a:solidFill>
                  <a:srgbClr val="FFFFFF"/>
                </a:solidFill>
              </a:rPr>
              <a:t>Genex</a:t>
            </a:r>
            <a:r>
              <a:rPr lang="en-US" sz="2500" dirty="0">
                <a:solidFill>
                  <a:srgbClr val="FFFFFF"/>
                </a:solidFill>
              </a:rPr>
              <a:t> </a:t>
            </a:r>
            <a:br>
              <a:rPr lang="en-US" sz="2500" dirty="0">
                <a:solidFill>
                  <a:srgbClr val="FFFFFF"/>
                </a:solidFill>
              </a:rPr>
            </a:br>
            <a:r>
              <a:rPr lang="en-US" sz="2500" dirty="0">
                <a:solidFill>
                  <a:srgbClr val="FFFFFF"/>
                </a:solidFill>
              </a:rPr>
              <a:t>Genetics Made Practical - Turn diagnoses into daily, doable routines</a:t>
            </a:r>
            <a:br>
              <a:rPr lang="en-US" sz="2500" dirty="0">
                <a:solidFill>
                  <a:srgbClr val="FFFFFF"/>
                </a:solidFill>
              </a:rPr>
            </a:br>
            <a:endParaRPr lang="en-US" sz="2500" dirty="0">
              <a:solidFill>
                <a:srgbClr val="FFFFFF"/>
              </a:solidFill>
            </a:endParaRPr>
          </a:p>
        </p:txBody>
      </p:sp>
      <p:pic>
        <p:nvPicPr>
          <p:cNvPr id="6" name="Picture 5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2F629BAF-EC31-D8E6-B9F4-8843333DD1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945"/>
          <a:stretch>
            <a:fillRect/>
          </a:stretch>
        </p:blipFill>
        <p:spPr>
          <a:xfrm>
            <a:off x="3376821" y="2183969"/>
            <a:ext cx="5419311" cy="24900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Problem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000AF66-E1D7-2474-B13C-EDA96AE437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393347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12F22655-6A22-12F3-F98D-B749743217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93" y="6235379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Solution: Genex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21EADA-4A86-543B-B073-B485D60072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0146678"/>
              </p:ext>
            </p:extLst>
          </p:nvPr>
        </p:nvGraphicFramePr>
        <p:xfrm>
          <a:off x="-889686" y="2668672"/>
          <a:ext cx="738934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DA24CA7-F847-2500-BB32-F056D9CB7A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4747" y="2170031"/>
            <a:ext cx="2695188" cy="4420734"/>
          </a:xfrm>
          <a:prstGeom prst="rect">
            <a:avLst/>
          </a:prstGeom>
        </p:spPr>
      </p:pic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B913AEDB-72E9-67FF-786A-8C467FFD7E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36" y="6252437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5DD9BB-8E47-56E0-A2BC-FC4E93CF1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44BE447-50B5-A8A6-5610-CB42A5EC5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FFFD32-3439-57FE-7A06-3F87C85EB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CDF4408-CBD5-9E8D-423C-00A82387BE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AB3DE4-41FB-3294-6B5B-4431B95D1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3E057-B888-370D-C28C-7980F7690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Genex - App </a:t>
            </a:r>
          </a:p>
        </p:txBody>
      </p:sp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1E080691-36CC-CED9-2C6C-6A9338984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" y="6252437"/>
            <a:ext cx="1370692" cy="547511"/>
          </a:xfrm>
          <a:prstGeom prst="rect">
            <a:avLst/>
          </a:prstGeom>
        </p:spPr>
      </p:pic>
      <p:pic>
        <p:nvPicPr>
          <p:cNvPr id="14" name="Genetics Care App — Mozilla Firefox 2025-09-24 11-54-11">
            <a:hlinkClick r:id="" action="ppaction://media"/>
            <a:extLst>
              <a:ext uri="{FF2B5EF4-FFF2-40B4-BE49-F238E27FC236}">
                <a16:creationId xmlns:a16="http://schemas.microsoft.com/office/drawing/2014/main" id="{EE8051C0-1BDA-F5AE-F94E-28437D196AA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37673" y="2350337"/>
            <a:ext cx="6882068" cy="365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777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66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E51C82-89AC-6DC1-282C-0066A7774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5C8A711-956D-743D-B491-C72A2C123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FDD6C1-5059-FC2E-720A-60575960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DD9813-501B-8532-0979-BB3F22617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5032C5-217A-D652-16CD-25545C3B9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D6083-E10A-7E3B-9521-751D32BBD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708" y="324650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Genex - Dashboard </a:t>
            </a:r>
          </a:p>
        </p:txBody>
      </p:sp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07D12430-ED2A-F07D-FC17-2B9E4CCCA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0" y="6309887"/>
            <a:ext cx="1370692" cy="547511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48BD5B3F-1C10-95D0-BC50-DC38C46CE324}"/>
              </a:ext>
            </a:extLst>
          </p:cNvPr>
          <p:cNvSpPr/>
          <p:nvPr/>
        </p:nvSpPr>
        <p:spPr>
          <a:xfrm>
            <a:off x="1031789" y="2335904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05F1F18-DA43-70F5-3849-7AD56B4D41A7}"/>
              </a:ext>
            </a:extLst>
          </p:cNvPr>
          <p:cNvSpPr/>
          <p:nvPr/>
        </p:nvSpPr>
        <p:spPr>
          <a:xfrm>
            <a:off x="1232957" y="2335904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C07DB88-E46C-7DA7-A232-09E0073A5B5F}"/>
              </a:ext>
            </a:extLst>
          </p:cNvPr>
          <p:cNvSpPr/>
          <p:nvPr/>
        </p:nvSpPr>
        <p:spPr>
          <a:xfrm>
            <a:off x="1434125" y="2335904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Genetic Conditions Dashboard — Mozilla Firefox 2025-09-24 11-53-27">
            <a:hlinkClick r:id="" action="ppaction://media"/>
            <a:extLst>
              <a:ext uri="{FF2B5EF4-FFF2-40B4-BE49-F238E27FC236}">
                <a16:creationId xmlns:a16="http://schemas.microsoft.com/office/drawing/2014/main" id="{99AE2AE4-979E-42E6-FD02-BF5ABDEE9BA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18816" y="2265920"/>
            <a:ext cx="7093395" cy="376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8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527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8C70F7-B4DA-2E3D-CA9D-C9D15E7DA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047BB-F7A2-4E7D-857F-3F9BD81BB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Genex – Landing Page </a:t>
            </a:r>
          </a:p>
        </p:txBody>
      </p:sp>
      <p:sp>
        <p:nvSpPr>
          <p:cNvPr id="6" name="Rectangle: Rounded Corners 5">
            <a:hlinkClick r:id="rId2"/>
            <a:extLst>
              <a:ext uri="{FF2B5EF4-FFF2-40B4-BE49-F238E27FC236}">
                <a16:creationId xmlns:a16="http://schemas.microsoft.com/office/drawing/2014/main" id="{2511E51E-D5A1-7A6A-4166-6E1F8EC48F92}"/>
              </a:ext>
            </a:extLst>
          </p:cNvPr>
          <p:cNvSpPr/>
          <p:nvPr/>
        </p:nvSpPr>
        <p:spPr>
          <a:xfrm>
            <a:off x="6429374" y="390832"/>
            <a:ext cx="2425189" cy="87361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https://getgenex.com/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A1E4FF-AF85-11C2-6023-45CD2C11C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68" y="2036599"/>
            <a:ext cx="8495662" cy="4311548"/>
          </a:xfrm>
          <a:prstGeom prst="rect">
            <a:avLst/>
          </a:prstGeom>
        </p:spPr>
      </p:pic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D628AAEB-BAA3-7A56-F7CF-4525BD41CE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36" y="6252437"/>
            <a:ext cx="1370692" cy="54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285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Market Opportunity (U.S.)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 lnSpcReduction="10000"/>
          </a:bodyPr>
          <a:lstStyle/>
          <a:p>
            <a:r>
              <a:rPr lang="en-US" sz="1800" dirty="0"/>
              <a:t>Children 0–17: ~73.1M; parent‑reported genetic/inherited: 3.9% → ~2.85M.</a:t>
            </a:r>
          </a:p>
          <a:p>
            <a:endParaRPr lang="en-US" sz="1800" dirty="0"/>
          </a:p>
          <a:p>
            <a:r>
              <a:rPr lang="en-US" sz="1800" dirty="0"/>
              <a:t>Service‑seeking families ≈ 60% → ~1.71M annually; IDEA students: ~7.5M.</a:t>
            </a:r>
          </a:p>
          <a:p>
            <a:endParaRPr lang="en-US" sz="1800" dirty="0"/>
          </a:p>
          <a:p>
            <a:r>
              <a:rPr lang="en-US" sz="1800" dirty="0"/>
              <a:t>Free audience fuels MAU (0.51–0.86M at 30–50% of 1.71M).</a:t>
            </a:r>
          </a:p>
          <a:p>
            <a:endParaRPr lang="en-US" sz="1800" dirty="0"/>
          </a:p>
          <a:p>
            <a:r>
              <a:rPr lang="en-US" sz="1800" dirty="0"/>
              <a:t>Monetization on provider + media sides; families/schools stay free.</a:t>
            </a:r>
          </a:p>
          <a:p>
            <a:endParaRPr lang="en-US" sz="1800" dirty="0"/>
          </a:p>
          <a:p>
            <a:r>
              <a:rPr lang="en-US" sz="1800" dirty="0"/>
              <a:t>Go‑to‑market: Down syndrome orgs, pediatric therapy programs, schools.</a:t>
            </a:r>
          </a:p>
        </p:txBody>
      </p:sp>
      <p:pic>
        <p:nvPicPr>
          <p:cNvPr id="4" name="Picture 3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B1BF7614-80B1-8760-2BEA-5C8BAC22A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07" y="6289706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Market Opportunity — Reach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200" i="1"/>
            </a:pPr>
            <a:r>
              <a:rPr lang="en-US" sz="16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Sources: NSCH, IDEA; MAU assumption 30–50% of service‑seeking families.</a:t>
            </a:r>
          </a:p>
        </p:txBody>
      </p:sp>
      <p:pic>
        <p:nvPicPr>
          <p:cNvPr id="5" name="Picture 4" descr="cdl_reach_funnel_labeled.png">
            <a:extLst>
              <a:ext uri="{FF2B5EF4-FFF2-40B4-BE49-F238E27FC236}">
                <a16:creationId xmlns:a16="http://schemas.microsoft.com/office/drawing/2014/main" id="{F81B3BAE-5C22-A4AE-FEE0-957953B32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4" y="1966293"/>
            <a:ext cx="7420269" cy="4452160"/>
          </a:xfrm>
          <a:prstGeom prst="rect">
            <a:avLst/>
          </a:prstGeom>
        </p:spPr>
      </p:pic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6E5D2647-9B31-60E7-219A-EF3DC30D5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17" y="6266358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Market Opportunity — Revenue 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  <a:defRPr sz="1200" i="1"/>
            </a:pPr>
            <a:r>
              <a:rPr lang="en-US" sz="1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Ranges shown via error bars; commerce &amp; district services excluded.</a:t>
            </a:r>
          </a:p>
        </p:txBody>
      </p:sp>
      <p:pic>
        <p:nvPicPr>
          <p:cNvPr id="5" name="Picture 4" descr="cdl_revenue_tam_labeled.png">
            <a:extLst>
              <a:ext uri="{FF2B5EF4-FFF2-40B4-BE49-F238E27FC236}">
                <a16:creationId xmlns:a16="http://schemas.microsoft.com/office/drawing/2014/main" id="{8B5F6C2B-15F8-ED67-0EC7-EE64D7931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865" y="1966293"/>
            <a:ext cx="6885822" cy="4131492"/>
          </a:xfrm>
          <a:prstGeom prst="rect">
            <a:avLst/>
          </a:prstGeom>
        </p:spPr>
      </p:pic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75AA3A2D-A397-E90E-C087-E836EFD18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6310736"/>
            <a:ext cx="1370692" cy="5475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E6E255-DA8B-4CA7-B9C3-ECC9809EC70C}"/>
              </a:ext>
            </a:extLst>
          </p:cNvPr>
          <p:cNvSpPr txBox="1"/>
          <p:nvPr/>
        </p:nvSpPr>
        <p:spPr>
          <a:xfrm>
            <a:off x="1587843" y="6148297"/>
            <a:ext cx="75561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Clinics/Hospitals: $25–$60 per clinician/month ($300–$720/yr).</a:t>
            </a:r>
          </a:p>
          <a:p>
            <a:r>
              <a:rPr lang="en-US" sz="1200" dirty="0"/>
              <a:t>Media &amp; Sponsorships: contextual, privacy‑safe placements (no PHI targeting).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Competition &amp; Genex Edge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632810"/>
              </p:ext>
            </p:extLst>
          </p:nvPr>
        </p:nvGraphicFramePr>
        <p:xfrm>
          <a:off x="803189" y="1966293"/>
          <a:ext cx="7587049" cy="4198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72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6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6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9885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800" dirty="0"/>
                        <a:t>Category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800"/>
                        <a:t>Examples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800"/>
                        <a:t>Typical Price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800"/>
                        <a:t>Their Strengths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rPr lang="en-US" sz="1800"/>
                        <a:t>Our Edge</a:t>
                      </a:r>
                    </a:p>
                  </a:txBody>
                  <a:tcPr marL="78660" marR="78660" marT="39330" marB="393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0534">
                <a:tc>
                  <a:txBody>
                    <a:bodyPr/>
                    <a:lstStyle/>
                    <a:p>
                      <a:r>
                        <a:rPr lang="en-US" sz="1800" dirty="0"/>
                        <a:t>Milestone/ therapy apps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BabySparks, Joon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$40–$90/yr (B2C)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Broad libraries, habit loops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Free for families/schools; genetics‑aware plans; KG confidence</a:t>
                      </a:r>
                    </a:p>
                  </a:txBody>
                  <a:tcPr marL="78660" marR="78660" marT="39330" marB="393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534">
                <a:tc>
                  <a:txBody>
                    <a:bodyPr/>
                    <a:lstStyle/>
                    <a:p>
                      <a:r>
                        <a:rPr lang="en-US" sz="1800" dirty="0"/>
                        <a:t>Condition info sites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GeneReviews</a:t>
                      </a:r>
                      <a:r>
                        <a:rPr lang="en-US" sz="1800" dirty="0"/>
                        <a:t>, nonprofits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Free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Authoritative reference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Daily routines + plan builder; personalization; school/clinic alignment</a:t>
                      </a:r>
                    </a:p>
                  </a:txBody>
                  <a:tcPr marL="78660" marR="78660" marT="39330" marB="393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534">
                <a:tc>
                  <a:txBody>
                    <a:bodyPr/>
                    <a:lstStyle/>
                    <a:p>
                      <a:r>
                        <a:rPr lang="en-US" sz="1800" dirty="0"/>
                        <a:t>Clinic/EHR portals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WebPT</a:t>
                      </a:r>
                      <a:r>
                        <a:rPr lang="en-US" sz="1800" dirty="0"/>
                        <a:t>, </a:t>
                      </a:r>
                      <a:r>
                        <a:rPr lang="en-US" sz="1800" dirty="0" err="1"/>
                        <a:t>SimplePractice</a:t>
                      </a:r>
                      <a:endParaRPr lang="en-US" sz="1800" dirty="0"/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$70–$100+/</a:t>
                      </a:r>
                      <a:r>
                        <a:rPr lang="en-US" sz="1800" dirty="0" err="1"/>
                        <a:t>mo</a:t>
                      </a:r>
                      <a:r>
                        <a:rPr lang="en-US" sz="1800" dirty="0"/>
                        <a:t> (B2B)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Scheduling, messaging</a:t>
                      </a:r>
                    </a:p>
                  </a:txBody>
                  <a:tcPr marL="78660" marR="78660" marT="39330" marB="39330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Home‑program UX; adherence analytics; parent‑first experience</a:t>
                      </a:r>
                    </a:p>
                  </a:txBody>
                  <a:tcPr marL="78660" marR="78660" marT="39330" marB="393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5E627A47-D093-394A-10B5-1B1BFF654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6306497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486" y="192416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800" dirty="0"/>
              <a:t>Families &amp; Public Schools: FREE (no paywall).</a:t>
            </a:r>
          </a:p>
          <a:p>
            <a:r>
              <a:rPr lang="en-US" sz="1800" dirty="0"/>
              <a:t>Clinics/Hospitals: $25–$60 per clinician/month ($300–$720/yr).</a:t>
            </a:r>
          </a:p>
          <a:p>
            <a:r>
              <a:rPr lang="en-US" sz="1800" dirty="0"/>
              <a:t>Media &amp; Sponsorships: contextual, privacy‑safe placements (no PHI targeting).</a:t>
            </a:r>
          </a:p>
          <a:p>
            <a:r>
              <a:rPr lang="en-US" sz="1800" dirty="0"/>
              <a:t>Optional District Services: rostering, PD, translation packs, connectors (ala carte).</a:t>
            </a:r>
          </a:p>
          <a:p>
            <a:r>
              <a:rPr lang="en-US" sz="1800" dirty="0"/>
              <a:t>Unit economics: low CAC via org channels; high gross margin per seat.</a:t>
            </a:r>
          </a:p>
        </p:txBody>
      </p:sp>
      <p:pic>
        <p:nvPicPr>
          <p:cNvPr id="4" name="Picture 3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682D15B0-E878-3C53-6006-13BF1CA56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9706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The Ask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0AFE23-6A0E-9B6D-5C91-7D438AB3C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498853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61B69B8A-085C-E442-47F7-5A4516AD67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55" y="6272168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Contact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1D81B5-F3EA-86B4-4854-7EB4F4908A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01771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Purple text on a white background&#10;&#10;AI-generated content may be incorrect.">
            <a:extLst>
              <a:ext uri="{FF2B5EF4-FFF2-40B4-BE49-F238E27FC236}">
                <a16:creationId xmlns:a16="http://schemas.microsoft.com/office/drawing/2014/main" id="{14E9EF28-50F7-D1C9-C197-19688C72C7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55" y="6272168"/>
            <a:ext cx="1370692" cy="5475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567</Words>
  <Application>Microsoft Office PowerPoint</Application>
  <PresentationFormat>On-screen Show (4:3)</PresentationFormat>
  <Paragraphs>68</Paragraphs>
  <Slides>13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Genex  Genetics Made Practical - Turn diagnoses into daily, doable routines </vt:lpstr>
      <vt:lpstr>Problem</vt:lpstr>
      <vt:lpstr>Solution: Genex</vt:lpstr>
      <vt:lpstr>Genex - App </vt:lpstr>
      <vt:lpstr>Genex - Dashboard </vt:lpstr>
      <vt:lpstr>Genex – Landing Page </vt:lpstr>
      <vt:lpstr>Market Opportunity (U.S.)</vt:lpstr>
      <vt:lpstr>Market Opportunity — Reach Funnel</vt:lpstr>
      <vt:lpstr>Market Opportunity — Revenue TAM</vt:lpstr>
      <vt:lpstr>Competition &amp; Genex Edge</vt:lpstr>
      <vt:lpstr>Business Model</vt:lpstr>
      <vt:lpstr>The Ask</vt:lpstr>
      <vt:lpstr>Contact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Sara Soltanizadeh</cp:lastModifiedBy>
  <cp:revision>5</cp:revision>
  <dcterms:created xsi:type="dcterms:W3CDTF">2013-01-27T09:14:16Z</dcterms:created>
  <dcterms:modified xsi:type="dcterms:W3CDTF">2025-09-24T19:59:49Z</dcterms:modified>
  <cp:category/>
</cp:coreProperties>
</file>
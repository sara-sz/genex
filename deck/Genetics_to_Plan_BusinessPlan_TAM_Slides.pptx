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Genetics-to-Plan: Business Plan &amp; TAM (U.S.)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Free for Families &amp; Schools • Provider + Media Monetization</a:t>
            </a:r>
          </a:p>
          <a:p>
            <a:r>
              <a:t>Privacy-Lite now, Clinical Mode later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Daily, bite-size plans for home/school based on diagnosis &amp; needs.</a:t>
            </a:r>
          </a:p>
          <a:p>
            <a:pPr/>
            <a:r>
              <a:t>Knowledge-graph fallback with sources &amp; confidence when evidence is sparse.</a:t>
            </a:r>
          </a:p>
          <a:p>
            <a:pPr/>
            <a:r>
              <a:t>Privacy-Lite (no server PHI) → future HIPAA/CMIA Clinical Mode for providers.</a:t>
            </a:r>
          </a:p>
          <a:p>
            <a:pPr/>
            <a:r>
              <a:t>Positioning: Like WebMD — FREE for families &amp; public schools (no paywall).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U.S. Data Anchors (NSCH/IDEA)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Children (0–17): ~73.1M (2022).</a:t>
            </a:r>
          </a:p>
          <a:p>
            <a:pPr/>
            <a:r>
              <a:t>Genetic/inherited condition (parent-reported): 3.9% → ~2.85M children.</a:t>
            </a:r>
          </a:p>
          <a:p>
            <a:pPr/>
            <a:r>
              <a:t>Developmental 'special services' (speech/OT/PT/behavioral): ~8–9% of all children.</a:t>
            </a:r>
          </a:p>
          <a:p>
            <a:pPr/>
            <a:r>
              <a:t>IDEA special education services: 15% of public students → ~7.5M.</a:t>
            </a:r>
          </a:p>
          <a:p>
            <a:pPr/>
            <a:r>
              <a:t>Rare context: 25–30M Americans affected; ~80% genetic; &lt;5–10% FDA-approved therapy.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Addressable Reach (Free Product)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Service-seeking families this year: 2.85M × 60% ≈ 1.71M families.</a:t>
            </a:r>
          </a:p>
          <a:p>
            <a:pPr/>
            <a:r>
              <a:t>Schools: ~7.5M students under IDEA; aligned home-program handouts.</a:t>
            </a:r>
          </a:p>
          <a:p>
            <a:pPr/>
            <a:r>
              <a:t>MAU base (assumption): 30–50% of 1.71M → 0.51–0.86M monthly active users.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Model &amp; Monetization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Families &amp; public schools: FREE (no subscriptions).</a:t>
            </a:r>
          </a:p>
          <a:p>
            <a:pPr/>
            <a:r>
              <a:t>Clinics/Hospitals (B2B): $25–$60/clinician/mo; clinician library + parent sync + adherence dashboards.</a:t>
            </a:r>
          </a:p>
          <a:p>
            <a:pPr/>
            <a:r>
              <a:t>Media/Sponsorships (privacy-safe; no PHI targeting): contextual ads, condition guides, seasonal campaigns.</a:t>
            </a:r>
          </a:p>
          <a:p>
            <a:pPr/>
            <a:r>
              <a:t>Opt-in commerce: adaptive equipment, sensory tools, education aids.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TAM (U.S., annual)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Clinics/Hospitals (B2B) licenses: ~$50M–$120M/yr at full penetration.</a:t>
            </a:r>
          </a:p>
          <a:p>
            <a:pPr/>
            <a:r>
              <a:t>Media + Sponsorships (at MAU scale): ~$8M–$25M/yr (excl. commerce upside).</a:t>
            </a:r>
          </a:p>
          <a:p>
            <a:pPr/>
            <a:r>
              <a:t>Optional district services: rostering, PD, connectors, localized translations (ala carte).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Go-To-Market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Families (Free): co-branded starter plans; creator shorts; clinic/school referrals; 'Week at a Glance' emails.</a:t>
            </a:r>
          </a:p>
          <a:p>
            <a:pPr/>
            <a:r>
              <a:t>Schools (Free core): app + printable handouts (EN/ES). Optional paid district services (rostering, PD, connectors).</a:t>
            </a:r>
          </a:p>
          <a:p>
            <a:pPr/>
            <a:r>
              <a:t>Clinics/Hospitals (Paid): adherence &amp; onboarding value; family access codes; analytics.</a:t>
            </a:r>
          </a:p>
          <a:p>
            <a:pPr/>
            <a:r>
              <a:t>Target orgs with high genetic-condition density to accelerate adoption.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KPIs &amp; 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Activation ≥40%; Weekly task completion ≥50%; D7 retention ≥35%.</a:t>
            </a:r>
          </a:p>
          <a:p>
            <a:pPr/>
            <a:r>
              <a:t>MAU growth; referral rate from clinics/schools; clinician seat utilization.</a:t>
            </a:r>
          </a:p>
          <a:p>
            <a:pPr/>
            <a:r>
              <a:t>Media: eCPM, fill-rate, sponsorship renewals; Provider: seat churn and expansion.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Pricing (Summary)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Families &amp; Public Schools: $0 (free).</a:t>
            </a:r>
          </a:p>
          <a:p>
            <a:pPr/>
            <a:r>
              <a:t>Clinics/Hospitals: $25–$60/clinician/mo ($300–$720/yr).</a:t>
            </a:r>
          </a:p>
          <a:p>
            <a:pPr/>
            <a:r>
              <a:t>District (optional): rostering, PD, connectors, translations — ala carte.</a:t>
            </a:r>
          </a:p>
          <a:p>
            <a:pPr/>
            <a:r>
              <a:t>Media/Sponsorships: contextual, privacy-safe (no PHI-based targeting).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Competitor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68580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Examples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Typical 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Strengths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Our Edge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Milestone/therapy apps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BabySparks, Joon, generic OT/PT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$40–$90/yr consumer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Broad libraries, habit 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Free for families/schools; genetics-to-plan; KG fallback; confidence badges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Condition info sites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GeneReviews, nonprofit pages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Authoritative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Plan builder; daily routines; school/clinic alignment; personalization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Clinic/EHR portals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WebPT, SimplePractice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Clinics $70–$100+/mo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Scheduling/messaging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Home-program UX; adherence analytics; genetics-aware features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SWOT (Highlights)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Strengths: Free access; genetics→routine bridge; provenance/confidence; B2B hooks; media upside.</a:t>
            </a:r>
          </a:p>
          <a:p>
            <a:pPr/>
            <a:r>
              <a:t>Weaknesses: Content review load; KG guardrails; early media yield modest until MAU scale.</a:t>
            </a:r>
          </a:p>
          <a:p>
            <a:pPr/>
            <a:r>
              <a:t>Opportunities: Rare communities; NGO/registry partners; school/clinic distribution; sponsored condition programs; international growth.</a:t>
            </a:r>
          </a:p>
          <a:p>
            <a:pPr/>
            <a:r>
              <a:t>Threats: Fast followers; skepticism of inferred recs; privacy rules; school procurement cycles; regulatory scope creep.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Operations &amp;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Privacy-Lite: no server-side PHI; anonymous analytics; 'not medical advice'.</a:t>
            </a:r>
          </a:p>
          <a:p>
            <a:pPr/>
            <a:r>
              <a:t>Clinical Mode (future): HIPAA/CMIA stack — separate VPC, BAAs, KMS/MFA/audit logs; consent, RBAC; FHIR CarePlan/Goal/Task.</a:t>
            </a:r>
          </a:p>
          <a:p>
            <a:pPr/>
            <a:r>
              <a:t>Europe/U.K.: DPIA, DPA/ROPA, SCCs/EU residency; first-party consent; contextual media only.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&amp; Low-Resource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Developed markets: align with curricula &amp; therapy norms (EN/ES → FR/DE).</a:t>
            </a:r>
          </a:p>
          <a:p>
            <a:pPr/>
            <a:r>
              <a:t>LMIC/war-affected: offline activity packs; SMS/WhatsApp micro-lessons; pictorial instructions; NGO/ministry partners.</a:t>
            </a:r>
          </a:p>
          <a:p>
            <a:pPr/>
            <a:r>
              <a:t>Media: local sponsorships (hospitals/brands/NGOs); contextual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&amp; Mitigations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Content safety/liability → clinician review, citations, disclaimers, reporting loop.</a:t>
            </a:r>
          </a:p>
          <a:p>
            <a:pPr/>
            <a:r>
              <a:t>Model/personalization error → confidence badges, conservative defaults, HITL, kill-switches, staged rollouts.</a:t>
            </a:r>
          </a:p>
          <a:p>
            <a:pPr/>
            <a:r>
              <a:t>Adoption/CAC → free core, 5–10-min wins, onboarding playbooks, B2B sponsorships.</a:t>
            </a:r>
          </a:p>
          <a:p>
            <a:pPr/>
            <a:r>
              <a:t>Compliance/privacy → two-mode arch; contextual ads only; regional compliance.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Caveats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All figures are rough, transparent estimates tied to public data (NSCH/IDEA/workforce).</a:t>
            </a:r>
          </a:p>
          <a:p>
            <a:pPr/>
            <a:r>
              <a:t>Tighten with NSCH microdata (% on services), channel conversion, real eCPMs/fill, sponsorship close-rates.</a:t>
            </a:r>
          </a:p>
          <a:p>
            <a:pPr/>
            <a:r>
              <a:t>12–24 mo plan: hit MAU band (0.5–0.9M), land 5–10% of target pediatric clinicians; iterate pricing by ARPU/retention.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Reach Funnel (U.S.)</a:t>
            </a:r>
          </a:p>
        </p:txBody>
      </p:sp>
      <p:pic>
        <p:nvPicPr>
          <p:cNvPr id="3" name="Picture 2" descr="reach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73152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7548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Sources: NSCH, IDEA; MAU assumption 30–50% of service-seeking families.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TAM (U.S.)</a:t>
            </a:r>
          </a:p>
        </p:txBody>
      </p:sp>
      <p:pic>
        <p:nvPicPr>
          <p:cNvPr id="3" name="Picture 2" descr="revenue_t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71600"/>
            <a:ext cx="73152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7548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Ranges shown via error bars; commerce &amp; district services not included.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Contact: team@genetics-to-plan.example</a:t>
            </a:r>
          </a:p>
          <a:p>
            <a:pPr/>
            <a:r>
              <a:t>Next: prioritize 3–5 beachhead orgs; launch co-branded starter plans; instrument funnel &amp; MAU metrics.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